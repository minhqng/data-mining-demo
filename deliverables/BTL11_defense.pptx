
<file path=[Content_Types].xml><?xml version="1.0" encoding="utf-8"?>
<Types xmlns="http://schemas.openxmlformats.org/package/2006/content-types"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3AD6A4F4-2CCF-4673-8259-22364333BD83}"/>
              </a:ext>
            </a:extLst>
          </p:cNvPr>
          <p:cNvSpPr/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0F766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5FF1E2B-2541-4A57-A024-A91FF3F03502}"/>
              </a:ext>
            </a:extLst>
          </p:cNvPr>
          <p:cNvSpPr/>
          <p:nvPr/>
        </p:nvSpPr>
        <p:spPr>
          <a:xfrm>
            <a:off x="7620000" y="5524500"/>
            <a:ext cx="4191000" cy="19050"/>
          </a:xfrm>
          <a:prstGeom prst="rect">
            <a:avLst/>
          </a:prstGeom>
          <a:solidFill>
            <a:srgbClr val="99F6E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3ADA2A7-B566-4111-A1E7-9C8EAA49F1AC}"/>
              </a:ext>
            </a:extLst>
          </p:cNvPr>
          <p:cNvSpPr txBox="1"/>
          <p:nvPr/>
        </p:nvSpPr>
        <p:spPr>
          <a:xfrm>
            <a:off x="609600" y="762000"/>
            <a:ext cx="6096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5EEAD4"/>
                </a:solidFill>
                <a:latin typeface="Segoe UI"/>
                <a:ea typeface="Segoe UI"/>
              </a:rPr>
              <a:t>BTL11 · DATA MINING · 2026-10-27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925F582-E7F3-4488-9453-6C559793DC98}"/>
              </a:ext>
            </a:extLst>
          </p:cNvPr>
          <p:cNvSpPr txBox="1"/>
          <p:nvPr/>
        </p:nvSpPr>
        <p:spPr>
          <a:xfrm>
            <a:off x="609600" y="1333500"/>
            <a:ext cx="6191250" cy="2667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F8FAFC"/>
                </a:solidFill>
                <a:latin typeface="Segoe UI"/>
                <a:ea typeface="Segoe UI"/>
              </a:rPr>
              <a:t>Music Genre &amp;</a:t>
            </a:r>
            <a:br/>
            <a:r>
              <a:rPr sz="4800" b="1">
                <a:solidFill>
                  <a:srgbClr val="F8FAFC"/>
                </a:solidFill>
                <a:latin typeface="Segoe UI"/>
                <a:ea typeface="Segoe UI"/>
              </a:rPr>
              <a:t>Audio Track</a:t>
            </a:r>
            <a:br/>
            <a:r>
              <a:rPr sz="4800" b="1">
                <a:solidFill>
                  <a:srgbClr val="F8FAFC"/>
                </a:solidFill>
                <a:latin typeface="Segoe UI"/>
                <a:ea typeface="Segoe UI"/>
              </a:rPr>
              <a:t>Segmentation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5CE61E4-3F9A-4742-801E-F295ED9C7761}"/>
              </a:ext>
            </a:extLst>
          </p:cNvPr>
          <p:cNvSpPr txBox="1"/>
          <p:nvPr/>
        </p:nvSpPr>
        <p:spPr>
          <a:xfrm>
            <a:off x="609600" y="4114800"/>
            <a:ext cx="59055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800">
                <a:solidFill>
                  <a:srgbClr val="CBD5E1"/>
                </a:solidFill>
                <a:latin typeface="Segoe UI"/>
                <a:ea typeface="Segoe UI"/>
              </a:rPr>
              <a:t>Phân cụm không giám sát trên Spotify Tracks Dataset — K-Means và GMM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59B2CCF-50DE-4D82-B460-C9B6393212C8}"/>
              </a:ext>
            </a:extLst>
          </p:cNvPr>
          <p:cNvSpPr txBox="1"/>
          <p:nvPr/>
        </p:nvSpPr>
        <p:spPr>
          <a:xfrm>
            <a:off x="609600" y="5143500"/>
            <a:ext cx="6096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94A3B8"/>
                </a:solidFill>
                <a:latin typeface="Segoe UI"/>
                <a:ea typeface="Segoe UI"/>
              </a:rPr>
              <a:t>114.000 dòng  ·  89.741 track duy nhất  ·  114 genre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8B04A88-4CC9-4770-B1A3-9DA85B1C0FC3}"/>
              </a:ext>
            </a:extLst>
          </p:cNvPr>
          <p:cNvSpPr/>
          <p:nvPr/>
        </p:nvSpPr>
        <p:spPr>
          <a:xfrm>
            <a:off x="609600" y="5905500"/>
            <a:ext cx="6477000" cy="9525"/>
          </a:xfrm>
          <a:prstGeom prst="rect">
            <a:avLst/>
          </a:prstGeom>
          <a:solidFill>
            <a:srgbClr val="33415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59FF907-0E4D-4987-9A64-BC65922320E8}"/>
              </a:ext>
            </a:extLst>
          </p:cNvPr>
          <p:cNvSpPr txBox="1"/>
          <p:nvPr/>
        </p:nvSpPr>
        <p:spPr>
          <a:xfrm>
            <a:off x="609600" y="6057900"/>
            <a:ext cx="6477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94A3B8"/>
                </a:solidFill>
                <a:latin typeface="Segoe UI"/>
                <a:ea typeface="Segoe UI"/>
              </a:rPr>
              <a:t>Đồ án BTL11 · số liệu khóa 2026-10-27 · nguồn: artifacts/final-report-tables/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103DC06-A9D5-4E4D-B5E3-C6E0C8088B86}"/>
              </a:ext>
            </a:extLst>
          </p:cNvPr>
          <p:cNvSpPr txBox="1"/>
          <p:nvPr/>
        </p:nvSpPr>
        <p:spPr>
          <a:xfrm>
            <a:off x="7658100" y="1066800"/>
            <a:ext cx="4191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Segoe UI"/>
                <a:ea typeface="Segoe UI"/>
              </a:rPr>
              <a:t>MÔ HÌNH CUỐI ĐƯỢC KHÓA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B2091C6-8E01-4E11-AEC2-9186FF9B8A1B}"/>
              </a:ext>
            </a:extLst>
          </p:cNvPr>
          <p:cNvSpPr txBox="1"/>
          <p:nvPr/>
        </p:nvSpPr>
        <p:spPr>
          <a:xfrm>
            <a:off x="7620000" y="1466850"/>
            <a:ext cx="41910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Segoe UI"/>
                <a:ea typeface="Segoe UI"/>
              </a:rPr>
              <a:t>K = 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2F11064-395C-4CBF-B3BD-EDEFE0497F76}"/>
              </a:ext>
            </a:extLst>
          </p:cNvPr>
          <p:cNvSpPr txBox="1"/>
          <p:nvPr/>
        </p:nvSpPr>
        <p:spPr>
          <a:xfrm>
            <a:off x="7658100" y="3143250"/>
            <a:ext cx="41910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0FDFA"/>
                </a:solidFill>
                <a:latin typeface="Segoe UI"/>
                <a:ea typeface="Segoe UI"/>
              </a:rPr>
              <a:t>K-Means · Robust F9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D19C888-9D4E-43F6-ACF2-476069589F5A}"/>
              </a:ext>
            </a:extLst>
          </p:cNvPr>
          <p:cNvSpPr txBox="1"/>
          <p:nvPr/>
        </p:nvSpPr>
        <p:spPr>
          <a:xfrm>
            <a:off x="7658100" y="3505200"/>
            <a:ext cx="4191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CCFBF1"/>
                </a:solidFill>
                <a:latin typeface="Segoe UI"/>
                <a:ea typeface="Segoe UI"/>
              </a:rPr>
              <a:t>không PCA · seed 42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E1F297E-8F9C-4080-B94E-22AD348C1329}"/>
              </a:ext>
            </a:extLst>
          </p:cNvPr>
          <p:cNvSpPr txBox="1"/>
          <p:nvPr/>
        </p:nvSpPr>
        <p:spPr>
          <a:xfrm>
            <a:off x="7658100" y="4248150"/>
            <a:ext cx="4191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FFFFFF"/>
                </a:solidFill>
                <a:latin typeface="Segoe UI"/>
                <a:ea typeface="Segoe UI"/>
              </a:rPr>
              <a:t>Silhouette (dev)  0,5956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879B1C5-4869-496B-BE57-E11627F6E45F}"/>
              </a:ext>
            </a:extLst>
          </p:cNvPr>
          <p:cNvSpPr txBox="1"/>
          <p:nvPr/>
        </p:nvSpPr>
        <p:spPr>
          <a:xfrm>
            <a:off x="7658100" y="4591050"/>
            <a:ext cx="4191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FFFFFF"/>
                </a:solidFill>
                <a:latin typeface="Segoe UI"/>
                <a:ea typeface="Segoe UI"/>
              </a:rPr>
              <a:t>Silhouette (holdout)  0,5902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821F082-5264-4B12-8D97-56BDE5A6172F}"/>
              </a:ext>
            </a:extLst>
          </p:cNvPr>
          <p:cNvSpPr txBox="1"/>
          <p:nvPr/>
        </p:nvSpPr>
        <p:spPr>
          <a:xfrm>
            <a:off x="7658100" y="4933950"/>
            <a:ext cx="4191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FFFFFF"/>
                </a:solidFill>
                <a:latin typeface="Segoe UI"/>
                <a:ea typeface="Segoe UI"/>
              </a:rPr>
              <a:t>Stability ARI  0,9997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E3EF8E3-BAB8-4D0B-99FC-059B4C1703F9}"/>
              </a:ext>
            </a:extLst>
          </p:cNvPr>
          <p:cNvSpPr txBox="1"/>
          <p:nvPr/>
        </p:nvSpPr>
        <p:spPr>
          <a:xfrm>
            <a:off x="7658100" y="5715000"/>
            <a:ext cx="4191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CCFBF1"/>
                </a:solidFill>
                <a:latin typeface="Segoe UI"/>
                <a:ea typeface="Segoe UI"/>
              </a:rPr>
              <a:t>89.741 track · 114 genre · 0 conflict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AD21449-1769-4ADB-9648-8F3435A2769E}"/>
              </a:ext>
            </a:extLst>
          </p:cNvPr>
          <p:cNvSpPr txBox="1"/>
          <p:nvPr/>
        </p:nvSpPr>
        <p:spPr>
          <a:xfrm>
            <a:off x="609600" y="3429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F766E"/>
                </a:solidFill>
                <a:latin typeface="Segoe UI"/>
                <a:ea typeface="Segoe UI"/>
              </a:rPr>
              <a:t>BTL11 · 02 — BÀI TOÁN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A4EAC8A-0F78-476E-865C-BEE57272D990}"/>
              </a:ext>
            </a:extLst>
          </p:cNvPr>
          <p:cNvSpPr txBox="1"/>
          <p:nvPr/>
        </p:nvSpPr>
        <p:spPr>
          <a:xfrm>
            <a:off x="609600" y="590550"/>
            <a:ext cx="10972800" cy="48768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0F172A"/>
                </a:solidFill>
                <a:latin typeface="Segoe UI"/>
                <a:ea typeface="Segoe UI"/>
              </a:rPr>
              <a:t>Bài toán &amp; câu hỏi nghiên cứu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6AEA513-ECC7-47AC-96C5-736ACFE9F2FF}"/>
              </a:ext>
            </a:extLst>
          </p:cNvPr>
          <p:cNvSpPr txBox="1"/>
          <p:nvPr/>
        </p:nvSpPr>
        <p:spPr>
          <a:xfrm>
            <a:off x="609600" y="1104900"/>
            <a:ext cx="952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475569"/>
                </a:solidFill>
                <a:latin typeface="Segoe UI"/>
                <a:ea typeface="Segoe UI"/>
              </a:rPr>
              <a:t>Phân cụm không giám sát: tìm cấu trúc âm học, không dự đoán genre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FA2B125-310A-43DD-9655-2A4D0C7F2E2F}"/>
              </a:ext>
            </a:extLst>
          </p:cNvPr>
          <p:cNvSpPr/>
          <p:nvPr/>
        </p:nvSpPr>
        <p:spPr>
          <a:xfrm>
            <a:off x="609600" y="1619250"/>
            <a:ext cx="6667500" cy="4476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29D34B7-0A39-45C9-853F-FB5620533375}"/>
              </a:ext>
            </a:extLst>
          </p:cNvPr>
          <p:cNvSpPr txBox="1"/>
          <p:nvPr/>
        </p:nvSpPr>
        <p:spPr>
          <a:xfrm>
            <a:off x="876300" y="1847850"/>
            <a:ext cx="6096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  <a:ea typeface="Segoe UI"/>
              </a:rPr>
              <a:t>Bốn câu hỏi nghiên cứu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FA09AE2-0B29-4A21-8B1F-1F1527D7CFB1}"/>
              </a:ext>
            </a:extLst>
          </p:cNvPr>
          <p:cNvSpPr txBox="1"/>
          <p:nvPr/>
        </p:nvSpPr>
        <p:spPr>
          <a:xfrm>
            <a:off x="876300" y="2305050"/>
            <a:ext cx="6096000" cy="2381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0F766E"/>
                </a:solidFill>
                <a:latin typeface="Segoe UI"/>
                <a:ea typeface="Segoe UI"/>
              </a:rPr>
              <a:t>01  </a:t>
            </a:r>
            <a:r>
              <a:rPr sz="1500">
                <a:solidFill>
                  <a:srgbClr val="1E293B"/>
                </a:solidFill>
                <a:latin typeface="Segoe UI"/>
                <a:ea typeface="Segoe UI"/>
              </a:rPr>
              <a:t>Dữ liệu âm học có cấu trúc cụm có ý nghĩa không?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0F766E"/>
                </a:solidFill>
                <a:latin typeface="Segoe UI"/>
                <a:ea typeface="Segoe UI"/>
              </a:rPr>
              <a:t>02  </a:t>
            </a:r>
            <a:r>
              <a:rPr sz="1500">
                <a:solidFill>
                  <a:srgbClr val="1E293B"/>
                </a:solidFill>
                <a:latin typeface="Segoe UI"/>
                <a:ea typeface="Segoe UI"/>
              </a:rPr>
              <a:t>K-Means (hard) và GMM (soft) khác nhau thế nào về phân đoạn và độ bất định?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0F766E"/>
                </a:solidFill>
                <a:latin typeface="Segoe UI"/>
                <a:ea typeface="Segoe UI"/>
              </a:rPr>
              <a:t>03  </a:t>
            </a:r>
            <a:r>
              <a:rPr sz="1500">
                <a:solidFill>
                  <a:srgbClr val="1E293B"/>
                </a:solidFill>
                <a:latin typeface="Segoe UI"/>
                <a:ea typeface="Segoe UI"/>
              </a:rPr>
              <a:t>K nào hợp lý khi xét validity, balance, stability, diễn giải và parsimony?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766E"/>
                </a:solidFill>
                <a:latin typeface="Segoe UI"/>
                <a:ea typeface="Segoe UI"/>
              </a:rPr>
              <a:t>04  </a:t>
            </a:r>
            <a:r>
              <a:rPr sz="1500">
                <a:solidFill>
                  <a:srgbClr val="1E293B"/>
                </a:solidFill>
                <a:latin typeface="Segoe UI"/>
                <a:ea typeface="Segoe UI"/>
              </a:rPr>
              <a:t>Các cụm có mô tả được “audio persona” mà không nhầm với genre không?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015DF6C-C678-428C-BC65-91333A671791}"/>
              </a:ext>
            </a:extLst>
          </p:cNvPr>
          <p:cNvSpPr/>
          <p:nvPr/>
        </p:nvSpPr>
        <p:spPr>
          <a:xfrm>
            <a:off x="876300" y="4876800"/>
            <a:ext cx="6134100" cy="914400"/>
          </a:xfrm>
          <a:prstGeom prst="roundRect">
            <a:avLst/>
          </a:prstGeom>
          <a:solidFill>
            <a:srgbClr val="E6FFFA"/>
          </a:solidFill>
          <a:ln w="12700">
            <a:solidFill>
              <a:srgbClr val="99F6E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621F6A6-79EA-49CD-903C-54DC47EE9CFC}"/>
              </a:ext>
            </a:extLst>
          </p:cNvPr>
          <p:cNvSpPr txBox="1"/>
          <p:nvPr/>
        </p:nvSpPr>
        <p:spPr>
          <a:xfrm>
            <a:off x="1066800" y="5010150"/>
            <a:ext cx="5753100" cy="647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0F766E"/>
                </a:solidFill>
                <a:latin typeface="Segoe UI"/>
                <a:ea typeface="Segoe UI"/>
              </a:rPr>
              <a:t>Genre, track_id và metadata không bao giờ vào X</a:t>
            </a: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134E4A"/>
                </a:solidFill>
                <a:latin typeface="Segoe UI"/>
                <a:ea typeface="Segoe UI"/>
              </a:rPr>
              <a:t>Nếu dùng genre để chọn K, scaler hay model thì bài toán không còn unsupervised.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B70B799-1FF6-481C-8064-313317DA79A7}"/>
              </a:ext>
            </a:extLst>
          </p:cNvPr>
          <p:cNvSpPr/>
          <p:nvPr/>
        </p:nvSpPr>
        <p:spPr>
          <a:xfrm>
            <a:off x="7581900" y="1619250"/>
            <a:ext cx="4000500" cy="4476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387E078-838A-4A66-8635-D1921645CBFE}"/>
              </a:ext>
            </a:extLst>
          </p:cNvPr>
          <p:cNvSpPr txBox="1"/>
          <p:nvPr/>
        </p:nvSpPr>
        <p:spPr>
          <a:xfrm>
            <a:off x="7848600" y="1847850"/>
            <a:ext cx="34671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  <a:ea typeface="Segoe UI"/>
              </a:rPr>
              <a:t>Phạm vi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6016E23-F060-4A58-86DD-D8E277D6410A}"/>
              </a:ext>
            </a:extLst>
          </p:cNvPr>
          <p:cNvSpPr txBox="1"/>
          <p:nvPr/>
        </p:nvSpPr>
        <p:spPr>
          <a:xfrm>
            <a:off x="7848600" y="2286000"/>
            <a:ext cx="34671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F766E"/>
                </a:solidFill>
                <a:latin typeface="Segoe UI"/>
                <a:ea typeface="Segoe UI"/>
              </a:rPr>
              <a:t>TRONG PHẠM VI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0DDA844-E15D-4D47-B052-F0794DAC4988}"/>
              </a:ext>
            </a:extLst>
          </p:cNvPr>
          <p:cNvSpPr txBox="1"/>
          <p:nvPr/>
        </p:nvSpPr>
        <p:spPr>
          <a:xfrm>
            <a:off x="7848600" y="2533650"/>
            <a:ext cx="34671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4155"/>
                </a:solidFill>
                <a:latin typeface="Segoe UI"/>
                <a:ea typeface="Segoe UI"/>
              </a:rPr>
              <a:t>Audit &amp; dedup · split ID-disjoint · F5/F9 · Standard/Robust · PCA · K-Means · GMM · validity · stability · holdout · refit · profile · PCA2D/t-SNE · Ward · genre post-hoc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0ECB199-9FB4-4D0D-A6F8-AB0250403953}"/>
              </a:ext>
            </a:extLst>
          </p:cNvPr>
          <p:cNvSpPr txBox="1"/>
          <p:nvPr/>
        </p:nvSpPr>
        <p:spPr>
          <a:xfrm>
            <a:off x="7848600" y="3905250"/>
            <a:ext cx="34671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D97706"/>
                </a:solidFill>
                <a:latin typeface="Segoe UI"/>
                <a:ea typeface="Segoe UI"/>
              </a:rPr>
              <a:t>NGOÀI PHẠM VI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1FEE8FC-D5DD-43E6-A3A2-1B8E48317FA4}"/>
              </a:ext>
            </a:extLst>
          </p:cNvPr>
          <p:cNvSpPr txBox="1"/>
          <p:nvPr/>
        </p:nvSpPr>
        <p:spPr>
          <a:xfrm>
            <a:off x="7848600" y="4152900"/>
            <a:ext cx="34671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4155"/>
                </a:solidFill>
                <a:latin typeface="Segoe UI"/>
                <a:ea typeface="Segoe UI"/>
              </a:rPr>
              <a:t>Supervised genre classification · recommender · Spotify API runtime · deep learning · dashboard · DBSCAN/Apriori bắt buộc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BCB52A4-4092-4A24-85A8-55DF91D17D2C}"/>
              </a:ext>
            </a:extLst>
          </p:cNvPr>
          <p:cNvSpPr txBox="1"/>
          <p:nvPr/>
        </p:nvSpPr>
        <p:spPr>
          <a:xfrm>
            <a:off x="7848600" y="5295900"/>
            <a:ext cx="34671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100" i="1">
                <a:solidFill>
                  <a:srgbClr val="64748B"/>
                </a:solidFill>
                <a:latin typeface="Segoe UI"/>
                <a:ea typeface="Segoe UI"/>
              </a:rPr>
              <a:t>Không dùng accuracy; không tuyên bố dự đoán genre. P2 được deferred có chủ ý.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B670964A-D30D-4776-8807-AEC86C1DEC08}"/>
              </a:ext>
            </a:extLst>
          </p:cNvPr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BD5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C1C9C4E-2B20-4289-BAE0-CC8BCFF86F53}"/>
              </a:ext>
            </a:extLst>
          </p:cNvPr>
          <p:cNvSpPr txBox="1"/>
          <p:nvPr/>
        </p:nvSpPr>
        <p:spPr>
          <a:xfrm>
            <a:off x="609600" y="6534150"/>
            <a:ext cx="8572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Nguồn: docs/REPORT.md §1 · không có số liệu mới ngoài artifact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6B170A2-33BA-4492-AEBB-8B5A570B92C7}"/>
              </a:ext>
            </a:extLst>
          </p:cNvPr>
          <p:cNvSpPr txBox="1"/>
          <p:nvPr/>
        </p:nvSpPr>
        <p:spPr>
          <a:xfrm>
            <a:off x="11201400" y="6534150"/>
            <a:ext cx="381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2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4846081-EE41-449A-96BE-F6B7481DF055}"/>
              </a:ext>
            </a:extLst>
          </p:cNvPr>
          <p:cNvSpPr txBox="1"/>
          <p:nvPr/>
        </p:nvSpPr>
        <p:spPr>
          <a:xfrm>
            <a:off x="609600" y="3429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F766E"/>
                </a:solidFill>
                <a:latin typeface="Segoe UI"/>
                <a:ea typeface="Segoe UI"/>
              </a:rPr>
              <a:t>BTL11 · 03 — DỮ LIỆU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8C9DC52-D5A3-44B1-AD03-6A29C01968D8}"/>
              </a:ext>
            </a:extLst>
          </p:cNvPr>
          <p:cNvSpPr txBox="1"/>
          <p:nvPr/>
        </p:nvSpPr>
        <p:spPr>
          <a:xfrm>
            <a:off x="609600" y="590550"/>
            <a:ext cx="10972800" cy="48768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0F172A"/>
                </a:solidFill>
                <a:latin typeface="Segoe UI"/>
                <a:ea typeface="Segoe UI"/>
              </a:rPr>
              <a:t>Dữ liệu &amp; provenance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B38FE4B-396D-4307-9B02-51A05C66F714}"/>
              </a:ext>
            </a:extLst>
          </p:cNvPr>
          <p:cNvSpPr txBox="1"/>
          <p:nvPr/>
        </p:nvSpPr>
        <p:spPr>
          <a:xfrm>
            <a:off x="609600" y="1104900"/>
            <a:ext cx="100012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475569"/>
                </a:solidFill>
                <a:latin typeface="Segoe UI"/>
                <a:ea typeface="Segoe UI"/>
              </a:rPr>
              <a:t>Đúng một snapshot Kaggle; đơn vị phân tích là track_id duy nhất, không phải dòng CSV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95F479B-6670-40F6-8040-1DC72C6F7493}"/>
              </a:ext>
            </a:extLst>
          </p:cNvPr>
          <p:cNvSpPr/>
          <p:nvPr/>
        </p:nvSpPr>
        <p:spPr>
          <a:xfrm>
            <a:off x="609600" y="1619250"/>
            <a:ext cx="2628900" cy="125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721CFA9-7FE1-4639-BC84-E0D8979FA157}"/>
              </a:ext>
            </a:extLst>
          </p:cNvPr>
          <p:cNvSpPr txBox="1"/>
          <p:nvPr/>
        </p:nvSpPr>
        <p:spPr>
          <a:xfrm>
            <a:off x="838200" y="1771650"/>
            <a:ext cx="217170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0F766E"/>
                </a:solidFill>
                <a:latin typeface="Segoe UI"/>
                <a:ea typeface="Segoe UI"/>
              </a:rPr>
              <a:t>114.000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5E9E21B-FA33-4770-8480-3AF6B8E22CE3}"/>
              </a:ext>
            </a:extLst>
          </p:cNvPr>
          <p:cNvSpPr txBox="1"/>
          <p:nvPr/>
        </p:nvSpPr>
        <p:spPr>
          <a:xfrm>
            <a:off x="838200" y="2305050"/>
            <a:ext cx="21717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334155"/>
                </a:solidFill>
                <a:latin typeface="Segoe UI"/>
                <a:ea typeface="Segoe UI"/>
              </a:rPr>
              <a:t>dòng CSV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FA7A6F5-0CF4-4D84-818A-16E549063133}"/>
              </a:ext>
            </a:extLst>
          </p:cNvPr>
          <p:cNvSpPr txBox="1"/>
          <p:nvPr/>
        </p:nvSpPr>
        <p:spPr>
          <a:xfrm>
            <a:off x="838200" y="2514600"/>
            <a:ext cx="21717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20.118.244 bytes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EA4FF24-EC0D-4DF9-93AD-CE6FD9DFBA45}"/>
              </a:ext>
            </a:extLst>
          </p:cNvPr>
          <p:cNvSpPr/>
          <p:nvPr/>
        </p:nvSpPr>
        <p:spPr>
          <a:xfrm>
            <a:off x="3390900" y="1619250"/>
            <a:ext cx="2628900" cy="125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A9374B0-2FFD-40C4-8ABE-32D964A3C919}"/>
              </a:ext>
            </a:extLst>
          </p:cNvPr>
          <p:cNvSpPr txBox="1"/>
          <p:nvPr/>
        </p:nvSpPr>
        <p:spPr>
          <a:xfrm>
            <a:off x="3619500" y="1771650"/>
            <a:ext cx="217170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0F766E"/>
                </a:solidFill>
                <a:latin typeface="Segoe UI"/>
                <a:ea typeface="Segoe UI"/>
              </a:rPr>
              <a:t>89.741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AD05D58-B807-4AD3-8ADA-4ACD32CB1041}"/>
              </a:ext>
            </a:extLst>
          </p:cNvPr>
          <p:cNvSpPr txBox="1"/>
          <p:nvPr/>
        </p:nvSpPr>
        <p:spPr>
          <a:xfrm>
            <a:off x="3619500" y="2305050"/>
            <a:ext cx="21717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334155"/>
                </a:solidFill>
                <a:latin typeface="Segoe UI"/>
                <a:ea typeface="Segoe UI"/>
              </a:rPr>
              <a:t>track_id duy nhất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536D334-E480-4D90-983A-9DA45156BAF6}"/>
              </a:ext>
            </a:extLst>
          </p:cNvPr>
          <p:cNvSpPr txBox="1"/>
          <p:nvPr/>
        </p:nvSpPr>
        <p:spPr>
          <a:xfrm>
            <a:off x="3619500" y="2514600"/>
            <a:ext cx="21717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16.641 ID xuất hiện lặp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2FC04F9B-3E20-4DF0-8CE9-7089B2CAE8FA}"/>
              </a:ext>
            </a:extLst>
          </p:cNvPr>
          <p:cNvSpPr/>
          <p:nvPr/>
        </p:nvSpPr>
        <p:spPr>
          <a:xfrm>
            <a:off x="6172200" y="1619250"/>
            <a:ext cx="2628900" cy="125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BF1E28B-4AC8-4D7A-934F-1F41B990E6FE}"/>
              </a:ext>
            </a:extLst>
          </p:cNvPr>
          <p:cNvSpPr txBox="1"/>
          <p:nvPr/>
        </p:nvSpPr>
        <p:spPr>
          <a:xfrm>
            <a:off x="6400800" y="1771650"/>
            <a:ext cx="217170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0F766E"/>
                </a:solidFill>
                <a:latin typeface="Segoe UI"/>
                <a:ea typeface="Segoe UI"/>
              </a:rPr>
              <a:t>114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E0AD541-6D07-4463-B64A-670FB09A1238}"/>
              </a:ext>
            </a:extLst>
          </p:cNvPr>
          <p:cNvSpPr txBox="1"/>
          <p:nvPr/>
        </p:nvSpPr>
        <p:spPr>
          <a:xfrm>
            <a:off x="6400800" y="2305050"/>
            <a:ext cx="21717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334155"/>
                </a:solidFill>
                <a:latin typeface="Segoe UI"/>
                <a:ea typeface="Segoe UI"/>
              </a:rPr>
              <a:t>genre quan sát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29FF0AD-0A5A-4C3D-BA20-E82EE2FC9CDF}"/>
              </a:ext>
            </a:extLst>
          </p:cNvPr>
          <p:cNvSpPr txBox="1"/>
          <p:nvPr/>
        </p:nvSpPr>
        <p:spPr>
          <a:xfrm>
            <a:off x="6400800" y="2514600"/>
            <a:ext cx="21717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16.299 track đa thể loại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8498737A-D939-4420-A0EC-915579936AD2}"/>
              </a:ext>
            </a:extLst>
          </p:cNvPr>
          <p:cNvSpPr/>
          <p:nvPr/>
        </p:nvSpPr>
        <p:spPr>
          <a:xfrm>
            <a:off x="8953500" y="1619250"/>
            <a:ext cx="2628900" cy="125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6988CB3-63E2-4244-8729-784C4BD2F325}"/>
              </a:ext>
            </a:extLst>
          </p:cNvPr>
          <p:cNvSpPr txBox="1"/>
          <p:nvPr/>
        </p:nvSpPr>
        <p:spPr>
          <a:xfrm>
            <a:off x="9182100" y="1771650"/>
            <a:ext cx="217170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0F766E"/>
                </a:solidFill>
                <a:latin typeface="Segoe UI"/>
                <a:ea typeface="Segoe UI"/>
              </a:rPr>
              <a:t>0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7B8CCBC-824F-4C0A-8A27-664F9E8977C9}"/>
              </a:ext>
            </a:extLst>
          </p:cNvPr>
          <p:cNvSpPr txBox="1"/>
          <p:nvPr/>
        </p:nvSpPr>
        <p:spPr>
          <a:xfrm>
            <a:off x="9182100" y="2305050"/>
            <a:ext cx="21717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334155"/>
                </a:solidFill>
                <a:latin typeface="Segoe UI"/>
                <a:ea typeface="Segoe UI"/>
              </a:rPr>
              <a:t>vector xung đột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EF0FBA3-347A-4986-AFFB-46157FCAE552}"/>
              </a:ext>
            </a:extLst>
          </p:cNvPr>
          <p:cNvSpPr txBox="1"/>
          <p:nvPr/>
        </p:nvSpPr>
        <p:spPr>
          <a:xfrm>
            <a:off x="9182100" y="2514600"/>
            <a:ext cx="21717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0 row bị quarantine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AB0C664-302F-414F-90E6-B517D9451045}"/>
              </a:ext>
            </a:extLst>
          </p:cNvPr>
          <p:cNvSpPr txBox="1"/>
          <p:nvPr/>
        </p:nvSpPr>
        <p:spPr>
          <a:xfrm>
            <a:off x="609600" y="3028950"/>
            <a:ext cx="7620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0F766E"/>
                </a:solidFill>
                <a:latin typeface="Segoe UI"/>
                <a:ea typeface="Segoe UI"/>
              </a:rPr>
              <a:t>SPLIT ID-DISJOINT THEO HASH seed:track_id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3DFEFCEE-5BCC-4599-851D-8025C70DEAA3}"/>
              </a:ext>
            </a:extLst>
          </p:cNvPr>
          <p:cNvSpPr/>
          <p:nvPr/>
        </p:nvSpPr>
        <p:spPr>
          <a:xfrm>
            <a:off x="609600" y="3257550"/>
            <a:ext cx="26289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AE0036F-08BF-4138-8E72-2C9F3453E9EE}"/>
              </a:ext>
            </a:extLst>
          </p:cNvPr>
          <p:cNvSpPr txBox="1"/>
          <p:nvPr/>
        </p:nvSpPr>
        <p:spPr>
          <a:xfrm>
            <a:off x="838200" y="3390900"/>
            <a:ext cx="21717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  <a:ea typeface="Segoe UI"/>
              </a:rPr>
              <a:t>71.813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77D52331-5474-4307-B440-9407F9FECF3F}"/>
              </a:ext>
            </a:extLst>
          </p:cNvPr>
          <p:cNvSpPr txBox="1"/>
          <p:nvPr/>
        </p:nvSpPr>
        <p:spPr>
          <a:xfrm>
            <a:off x="838200" y="3829050"/>
            <a:ext cx="21717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334155"/>
                </a:solidFill>
                <a:latin typeface="Segoe UI"/>
                <a:ea typeface="Segoe UI"/>
              </a:rPr>
              <a:t>Development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3BEA011-5DAE-4473-B757-FC575AA07C1F}"/>
              </a:ext>
            </a:extLst>
          </p:cNvPr>
          <p:cNvSpPr txBox="1"/>
          <p:nvPr/>
        </p:nvSpPr>
        <p:spPr>
          <a:xfrm>
            <a:off x="838200" y="4019550"/>
            <a:ext cx="2171700" cy="1524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chọn model &amp; ablation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954AD095-5768-4557-8467-51CC618785C4}"/>
              </a:ext>
            </a:extLst>
          </p:cNvPr>
          <p:cNvSpPr/>
          <p:nvPr/>
        </p:nvSpPr>
        <p:spPr>
          <a:xfrm>
            <a:off x="3390900" y="3257550"/>
            <a:ext cx="26289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A9B7A974-344E-42EF-BB49-164782DE277C}"/>
              </a:ext>
            </a:extLst>
          </p:cNvPr>
          <p:cNvSpPr txBox="1"/>
          <p:nvPr/>
        </p:nvSpPr>
        <p:spPr>
          <a:xfrm>
            <a:off x="3619500" y="3390900"/>
            <a:ext cx="21717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  <a:ea typeface="Segoe UI"/>
              </a:rPr>
              <a:t>68.813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861FA8CC-419F-4B85-BF20-1C77F9BC9F76}"/>
              </a:ext>
            </a:extLst>
          </p:cNvPr>
          <p:cNvSpPr txBox="1"/>
          <p:nvPr/>
        </p:nvSpPr>
        <p:spPr>
          <a:xfrm>
            <a:off x="3619500" y="3829050"/>
            <a:ext cx="21717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334155"/>
                </a:solidFill>
                <a:latin typeface="Segoe UI"/>
                <a:ea typeface="Segoe UI"/>
              </a:rPr>
              <a:t>Fit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D18DDA0-ADD1-4CF5-AAAE-3527CD50169B}"/>
              </a:ext>
            </a:extLst>
          </p:cNvPr>
          <p:cNvSpPr txBox="1"/>
          <p:nvPr/>
        </p:nvSpPr>
        <p:spPr>
          <a:xfrm>
            <a:off x="3619500" y="4019550"/>
            <a:ext cx="2171700" cy="1524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scaler / PCA / clusterer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30F76E9A-3FF4-42E8-AE4A-E0C8598472C0}"/>
              </a:ext>
            </a:extLst>
          </p:cNvPr>
          <p:cNvSpPr/>
          <p:nvPr/>
        </p:nvSpPr>
        <p:spPr>
          <a:xfrm>
            <a:off x="6172200" y="3257550"/>
            <a:ext cx="2628900" cy="99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5AA12403-C488-4498-8E1A-7856A9EC8300}"/>
              </a:ext>
            </a:extLst>
          </p:cNvPr>
          <p:cNvSpPr txBox="1"/>
          <p:nvPr/>
        </p:nvSpPr>
        <p:spPr>
          <a:xfrm>
            <a:off x="6400800" y="3390900"/>
            <a:ext cx="21717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0F766E"/>
                </a:solidFill>
                <a:latin typeface="Segoe UI"/>
                <a:ea typeface="Segoe UI"/>
              </a:rPr>
              <a:t>3.000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5B60400F-D4C1-449F-95D4-841FEF3B5FEE}"/>
              </a:ext>
            </a:extLst>
          </p:cNvPr>
          <p:cNvSpPr txBox="1"/>
          <p:nvPr/>
        </p:nvSpPr>
        <p:spPr>
          <a:xfrm>
            <a:off x="6400800" y="3829050"/>
            <a:ext cx="21717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334155"/>
                </a:solidFill>
                <a:latin typeface="Segoe UI"/>
                <a:ea typeface="Segoe UI"/>
              </a:rPr>
              <a:t>Eval cohort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10DE276D-BD9E-4010-A6B4-45BC5C8BDA4F}"/>
              </a:ext>
            </a:extLst>
          </p:cNvPr>
          <p:cNvSpPr txBox="1"/>
          <p:nvPr/>
        </p:nvSpPr>
        <p:spPr>
          <a:xfrm>
            <a:off x="6400800" y="4019550"/>
            <a:ext cx="2171700" cy="1524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nằm ngoài fit</a:t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426C1118-7611-4E64-BFEB-A7CCB10D7CC8}"/>
              </a:ext>
            </a:extLst>
          </p:cNvPr>
          <p:cNvSpPr/>
          <p:nvPr/>
        </p:nvSpPr>
        <p:spPr>
          <a:xfrm>
            <a:off x="8953500" y="3257550"/>
            <a:ext cx="26289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45586CBF-7C8C-44F1-AE29-25921FBE0F9E}"/>
              </a:ext>
            </a:extLst>
          </p:cNvPr>
          <p:cNvSpPr txBox="1"/>
          <p:nvPr/>
        </p:nvSpPr>
        <p:spPr>
          <a:xfrm>
            <a:off x="9182100" y="3390900"/>
            <a:ext cx="21717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  <a:ea typeface="Segoe UI"/>
              </a:rPr>
              <a:t>17.928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581A538D-08DF-4846-B7A8-D47BDDC2CA3E}"/>
              </a:ext>
            </a:extLst>
          </p:cNvPr>
          <p:cNvSpPr txBox="1"/>
          <p:nvPr/>
        </p:nvSpPr>
        <p:spPr>
          <a:xfrm>
            <a:off x="9182100" y="3829050"/>
            <a:ext cx="21717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334155"/>
                </a:solidFill>
                <a:latin typeface="Segoe UI"/>
                <a:ea typeface="Segoe UI"/>
              </a:rPr>
              <a:t>Holdout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8F6E3986-F5FD-416A-A6F7-6D33742AAD6B}"/>
              </a:ext>
            </a:extLst>
          </p:cNvPr>
          <p:cNvSpPr txBox="1"/>
          <p:nvPr/>
        </p:nvSpPr>
        <p:spPr>
          <a:xfrm>
            <a:off x="9182100" y="4019550"/>
            <a:ext cx="2171700" cy="1524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một lần, sau freeze</a:t>
            </a:r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36089A8D-963B-4013-80A1-2E0204611647}"/>
              </a:ext>
            </a:extLst>
          </p:cNvPr>
          <p:cNvSpPr/>
          <p:nvPr/>
        </p:nvSpPr>
        <p:spPr>
          <a:xfrm>
            <a:off x="609600" y="4476750"/>
            <a:ext cx="10972800" cy="1638300"/>
          </a:xfrm>
          <a:prstGeom prst="roundRect">
            <a:avLst/>
          </a:prstGeom>
          <a:solidFill>
            <a:srgbClr val="0B122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BB30EEA5-B613-4737-821C-0F188B6A2DA0}"/>
              </a:ext>
            </a:extLst>
          </p:cNvPr>
          <p:cNvSpPr txBox="1"/>
          <p:nvPr/>
        </p:nvSpPr>
        <p:spPr>
          <a:xfrm>
            <a:off x="876300" y="4648200"/>
            <a:ext cx="4762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5EEAD4"/>
                </a:solidFill>
                <a:latin typeface="Segoe UI"/>
                <a:ea typeface="Segoe UI"/>
              </a:rPr>
              <a:t>PROVENANCE &amp; COMPLIANCE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BFDE1527-B45A-4CB4-BCCF-CB233832441A}"/>
              </a:ext>
            </a:extLst>
          </p:cNvPr>
          <p:cNvSpPr txBox="1"/>
          <p:nvPr/>
        </p:nvSpPr>
        <p:spPr>
          <a:xfrm>
            <a:off x="876300" y="4933950"/>
            <a:ext cx="4914900" cy="990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>
                <a:solidFill>
                  <a:srgbClr val="E2E8F0"/>
                </a:solidFill>
                <a:latin typeface="Segoe UI"/>
                <a:ea typeface="Segoe UI"/>
              </a:rPr>
              <a:t>Kaggle — maharshipandya/-spotify-tracks-dataset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>
                <a:solidFill>
                  <a:srgbClr val="E2E8F0"/>
                </a:solidFill>
                <a:latin typeface="Segoe UI"/>
                <a:ea typeface="Segoe UI"/>
              </a:rPr>
              <a:t>SHA-256 b202fa49…177bd · 20.118.244 bytes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Segoe UI"/>
                <a:ea typeface="Segoe UI"/>
              </a:rPr>
              <a:t>track_genres.parquet: 113.550 cặp (track_id, genre)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13C76E8B-7FC3-43F1-A80C-3182D76AC805}"/>
              </a:ext>
            </a:extLst>
          </p:cNvPr>
          <p:cNvSpPr txBox="1"/>
          <p:nvPr/>
        </p:nvSpPr>
        <p:spPr>
          <a:xfrm>
            <a:off x="6096000" y="4933950"/>
            <a:ext cx="5219700" cy="990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1">
                <a:solidFill>
                  <a:srgbClr val="FCD34D"/>
                </a:solidFill>
                <a:latin typeface="Segoe UI"/>
                <a:ea typeface="Segoe UI"/>
              </a:rPr>
              <a:t>License: pending_human_verification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>
                <a:solidFill>
                  <a:srgbClr val="E2E8F0"/>
                </a:solidFill>
                <a:latin typeface="Segoe UI"/>
                <a:ea typeface="Segoe UI"/>
              </a:rPr>
              <a:t>redistribution_allowed = false · raw CSV không public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Segoe UI"/>
                <a:ea typeface="Segoe UI"/>
              </a:rPr>
              <a:t>ODbL 1.0 (Kaggle) vs BSD (HF mirror) vs Spotify provenance</a:t>
            </a:r>
          </a:p>
        </p:txBody>
      </p:sp>
      <p:sp>
        <p:nvSpPr>
          <p:cNvPr id="43" name="Shape 43">
            <a:extLst>
              <a:ext uri="{FF2B5EF4-FFF2-40B4-BE49-F238E27FC236}">
                <a16:creationId xmlns:a16="http://schemas.microsoft.com/office/drawing/2014/main" id="{C75BBBB6-E9F2-4DCC-A985-B3DB46137FDF}"/>
              </a:ext>
            </a:extLst>
          </p:cNvPr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BD5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4AB73DA2-97D7-4E25-A755-AEC76A16A72E}"/>
              </a:ext>
            </a:extLst>
          </p:cNvPr>
          <p:cNvSpPr txBox="1"/>
          <p:nvPr/>
        </p:nvSpPr>
        <p:spPr>
          <a:xfrm>
            <a:off x="609600" y="6534150"/>
            <a:ext cx="8572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Nguồn: artifacts/final-report-tables/dataset_summary.csv · data/processed/audit.json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9DC7EC28-1002-40E2-96E6-A73F20FFC3D0}"/>
              </a:ext>
            </a:extLst>
          </p:cNvPr>
          <p:cNvSpPr txBox="1"/>
          <p:nvPr/>
        </p:nvSpPr>
        <p:spPr>
          <a:xfrm>
            <a:off x="11201400" y="6534150"/>
            <a:ext cx="381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3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D802A9E-BD15-4953-B909-80AC216742F2}"/>
              </a:ext>
            </a:extLst>
          </p:cNvPr>
          <p:cNvSpPr txBox="1"/>
          <p:nvPr/>
        </p:nvSpPr>
        <p:spPr>
          <a:xfrm>
            <a:off x="609600" y="3429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F766E"/>
                </a:solidFill>
                <a:latin typeface="Segoe UI"/>
                <a:ea typeface="Segoe UI"/>
              </a:rPr>
              <a:t>BTL11 · 04 — EDA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9F6D0FB-23BF-44E7-A98C-6E87EB6F7D78}"/>
              </a:ext>
            </a:extLst>
          </p:cNvPr>
          <p:cNvSpPr txBox="1"/>
          <p:nvPr/>
        </p:nvSpPr>
        <p:spPr>
          <a:xfrm>
            <a:off x="609600" y="590550"/>
            <a:ext cx="10972800" cy="48768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0F172A"/>
                </a:solidFill>
                <a:latin typeface="Segoe UI"/>
                <a:ea typeface="Segoe UI"/>
              </a:rPr>
              <a:t>EDA &amp; không gian đặc trưng F9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A3E255A-3A36-412E-9154-492EC9508768}"/>
              </a:ext>
            </a:extLst>
          </p:cNvPr>
          <p:cNvSpPr txBox="1"/>
          <p:nvPr/>
        </p:nvSpPr>
        <p:spPr>
          <a:xfrm>
            <a:off x="609600" y="1104900"/>
            <a:ext cx="100012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475569"/>
                </a:solidFill>
                <a:latin typeface="Segoe UI"/>
                <a:ea typeface="Segoe UI"/>
              </a:rPr>
              <a:t>Chín đặc trưng âm học; tương quan mạnh được ghi nhận thay vì che giấu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88EFF1E-5DF3-4576-9046-2CD6020E968B}"/>
              </a:ext>
            </a:extLst>
          </p:cNvPr>
          <p:cNvSpPr/>
          <p:nvPr/>
        </p:nvSpPr>
        <p:spPr>
          <a:xfrm>
            <a:off x="609600" y="1619250"/>
            <a:ext cx="5334000" cy="4476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7B62CDB-1219-4B19-B647-61675300BA51}"/>
              </a:ext>
            </a:extLst>
          </p:cNvPr>
          <p:cNvSpPr txBox="1"/>
          <p:nvPr/>
        </p:nvSpPr>
        <p:spPr>
          <a:xfrm>
            <a:off x="876300" y="1847850"/>
            <a:ext cx="4762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  <a:ea typeface="Segoe UI"/>
              </a:rPr>
              <a:t>F9 — 9 đặc trưng âm học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C94CEF0-E319-4C88-B5CD-41A86BBFA206}"/>
              </a:ext>
            </a:extLst>
          </p:cNvPr>
          <p:cNvSpPr txBox="1"/>
          <p:nvPr/>
        </p:nvSpPr>
        <p:spPr>
          <a:xfrm>
            <a:off x="876300" y="2171700"/>
            <a:ext cx="4762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  <a:ea typeface="Segoe UI"/>
              </a:rPr>
              <a:t>Chỉ tín hiệu âm học; không genre, track_id hay metadata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7E95D59D-3CAD-4022-80E6-EFB06542077A}"/>
              </a:ext>
            </a:extLst>
          </p:cNvPr>
          <p:cNvSpPr/>
          <p:nvPr/>
        </p:nvSpPr>
        <p:spPr>
          <a:xfrm>
            <a:off x="876300" y="2495550"/>
            <a:ext cx="1447800" cy="361950"/>
          </a:xfrm>
          <a:prstGeom prst="round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6062833-12F0-48A3-A864-CAD75CF5308C}"/>
              </a:ext>
            </a:extLst>
          </p:cNvPr>
          <p:cNvSpPr txBox="1"/>
          <p:nvPr/>
        </p:nvSpPr>
        <p:spPr>
          <a:xfrm>
            <a:off x="990600" y="2590800"/>
            <a:ext cx="12192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334155"/>
                </a:solidFill>
                <a:latin typeface="Segoe UI"/>
                <a:ea typeface="Segoe UI"/>
              </a:rPr>
              <a:t>danceability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448E670-35A8-4BF4-955F-8CD26BEA4E3B}"/>
              </a:ext>
            </a:extLst>
          </p:cNvPr>
          <p:cNvSpPr/>
          <p:nvPr/>
        </p:nvSpPr>
        <p:spPr>
          <a:xfrm>
            <a:off x="2438400" y="2495550"/>
            <a:ext cx="1447800" cy="361950"/>
          </a:xfrm>
          <a:prstGeom prst="round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EEBEA33-5CB5-4263-B028-57CA5EA437D7}"/>
              </a:ext>
            </a:extLst>
          </p:cNvPr>
          <p:cNvSpPr txBox="1"/>
          <p:nvPr/>
        </p:nvSpPr>
        <p:spPr>
          <a:xfrm>
            <a:off x="2552700" y="2590800"/>
            <a:ext cx="12192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334155"/>
                </a:solidFill>
                <a:latin typeface="Segoe UI"/>
                <a:ea typeface="Segoe UI"/>
              </a:rPr>
              <a:t>energy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51D158B2-6715-491E-A295-D78AC6F4D11D}"/>
              </a:ext>
            </a:extLst>
          </p:cNvPr>
          <p:cNvSpPr/>
          <p:nvPr/>
        </p:nvSpPr>
        <p:spPr>
          <a:xfrm>
            <a:off x="4000500" y="2495550"/>
            <a:ext cx="1447800" cy="361950"/>
          </a:xfrm>
          <a:prstGeom prst="round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0BA9631-4448-4B75-91AC-1CF6866BAB0C}"/>
              </a:ext>
            </a:extLst>
          </p:cNvPr>
          <p:cNvSpPr txBox="1"/>
          <p:nvPr/>
        </p:nvSpPr>
        <p:spPr>
          <a:xfrm>
            <a:off x="4114800" y="2590800"/>
            <a:ext cx="12192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334155"/>
                </a:solidFill>
                <a:latin typeface="Segoe UI"/>
                <a:ea typeface="Segoe UI"/>
              </a:rPr>
              <a:t>loudness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91E4C20A-25A7-44AA-952E-5671E7F72A87}"/>
              </a:ext>
            </a:extLst>
          </p:cNvPr>
          <p:cNvSpPr/>
          <p:nvPr/>
        </p:nvSpPr>
        <p:spPr>
          <a:xfrm>
            <a:off x="876300" y="2971800"/>
            <a:ext cx="1447800" cy="361950"/>
          </a:xfrm>
          <a:prstGeom prst="round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B6F3420-B48A-4BB0-ABD9-47DEED0C32E8}"/>
              </a:ext>
            </a:extLst>
          </p:cNvPr>
          <p:cNvSpPr txBox="1"/>
          <p:nvPr/>
        </p:nvSpPr>
        <p:spPr>
          <a:xfrm>
            <a:off x="990600" y="3067050"/>
            <a:ext cx="12192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334155"/>
                </a:solidFill>
                <a:latin typeface="Segoe UI"/>
                <a:ea typeface="Segoe UI"/>
              </a:rPr>
              <a:t>speechiness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BFC71470-941B-48DD-8492-CB3E3ED64B5D}"/>
              </a:ext>
            </a:extLst>
          </p:cNvPr>
          <p:cNvSpPr/>
          <p:nvPr/>
        </p:nvSpPr>
        <p:spPr>
          <a:xfrm>
            <a:off x="2438400" y="2971800"/>
            <a:ext cx="1447800" cy="361950"/>
          </a:xfrm>
          <a:prstGeom prst="round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3AAC20A-B5B2-4CCA-9AD7-CD7427798900}"/>
              </a:ext>
            </a:extLst>
          </p:cNvPr>
          <p:cNvSpPr txBox="1"/>
          <p:nvPr/>
        </p:nvSpPr>
        <p:spPr>
          <a:xfrm>
            <a:off x="2552700" y="3067050"/>
            <a:ext cx="12192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334155"/>
                </a:solidFill>
                <a:latin typeface="Segoe UI"/>
                <a:ea typeface="Segoe UI"/>
              </a:rPr>
              <a:t>acousticness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D9DC409A-678B-400F-AB78-34CE95E48254}"/>
              </a:ext>
            </a:extLst>
          </p:cNvPr>
          <p:cNvSpPr/>
          <p:nvPr/>
        </p:nvSpPr>
        <p:spPr>
          <a:xfrm>
            <a:off x="4000500" y="2971800"/>
            <a:ext cx="1447800" cy="361950"/>
          </a:xfrm>
          <a:prstGeom prst="round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CE7B436-897F-4CA6-9183-BAD6D7993943}"/>
              </a:ext>
            </a:extLst>
          </p:cNvPr>
          <p:cNvSpPr txBox="1"/>
          <p:nvPr/>
        </p:nvSpPr>
        <p:spPr>
          <a:xfrm>
            <a:off x="4114800" y="3067050"/>
            <a:ext cx="12192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>
                <a:solidFill>
                  <a:srgbClr val="334155"/>
                </a:solidFill>
                <a:latin typeface="Segoe UI"/>
                <a:ea typeface="Segoe UI"/>
              </a:rPr>
              <a:t>instrumentalness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9BF23337-8F74-47FD-A545-BE04625B3384}"/>
              </a:ext>
            </a:extLst>
          </p:cNvPr>
          <p:cNvSpPr/>
          <p:nvPr/>
        </p:nvSpPr>
        <p:spPr>
          <a:xfrm>
            <a:off x="876300" y="3448050"/>
            <a:ext cx="1447800" cy="361950"/>
          </a:xfrm>
          <a:prstGeom prst="round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606BAB6-856B-4A09-9BA9-8CF6EE94FAFD}"/>
              </a:ext>
            </a:extLst>
          </p:cNvPr>
          <p:cNvSpPr txBox="1"/>
          <p:nvPr/>
        </p:nvSpPr>
        <p:spPr>
          <a:xfrm>
            <a:off x="990600" y="3543300"/>
            <a:ext cx="12192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334155"/>
                </a:solidFill>
                <a:latin typeface="Segoe UI"/>
                <a:ea typeface="Segoe UI"/>
              </a:rPr>
              <a:t>liveness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358B6490-EAAD-4C62-A8AF-53A0B70F0E69}"/>
              </a:ext>
            </a:extLst>
          </p:cNvPr>
          <p:cNvSpPr/>
          <p:nvPr/>
        </p:nvSpPr>
        <p:spPr>
          <a:xfrm>
            <a:off x="2438400" y="3448050"/>
            <a:ext cx="1447800" cy="361950"/>
          </a:xfrm>
          <a:prstGeom prst="round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BE530E8-D497-41BC-8A2E-6E0410224C18}"/>
              </a:ext>
            </a:extLst>
          </p:cNvPr>
          <p:cNvSpPr txBox="1"/>
          <p:nvPr/>
        </p:nvSpPr>
        <p:spPr>
          <a:xfrm>
            <a:off x="2552700" y="3543300"/>
            <a:ext cx="12192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334155"/>
                </a:solidFill>
                <a:latin typeface="Segoe UI"/>
                <a:ea typeface="Segoe UI"/>
              </a:rPr>
              <a:t>valence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CA7B16FC-0DCE-42F3-8B2B-DBED88B0EA9B}"/>
              </a:ext>
            </a:extLst>
          </p:cNvPr>
          <p:cNvSpPr/>
          <p:nvPr/>
        </p:nvSpPr>
        <p:spPr>
          <a:xfrm>
            <a:off x="4000500" y="3448050"/>
            <a:ext cx="1447800" cy="361950"/>
          </a:xfrm>
          <a:prstGeom prst="roundRect">
            <a:avLst/>
          </a:prstGeom>
          <a:solidFill>
            <a:srgbClr val="F1F5F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F73D203-95FE-4841-B5E9-40415109FE40}"/>
              </a:ext>
            </a:extLst>
          </p:cNvPr>
          <p:cNvSpPr txBox="1"/>
          <p:nvPr/>
        </p:nvSpPr>
        <p:spPr>
          <a:xfrm>
            <a:off x="4114800" y="3543300"/>
            <a:ext cx="12192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334155"/>
                </a:solidFill>
                <a:latin typeface="Segoe UI"/>
                <a:ea typeface="Segoe UI"/>
              </a:rPr>
              <a:t>tempo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745FBA3-CD41-4E07-B5FA-A5300F55CD8C}"/>
              </a:ext>
            </a:extLst>
          </p:cNvPr>
          <p:cNvSpPr txBox="1"/>
          <p:nvPr/>
        </p:nvSpPr>
        <p:spPr>
          <a:xfrm>
            <a:off x="876300" y="409575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F766E"/>
                </a:solidFill>
                <a:latin typeface="Segoe UI"/>
                <a:ea typeface="Segoe UI"/>
              </a:rPr>
              <a:t>GIẢM CHIỀU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0B4D97A-70DF-4E4E-A5BF-B44E1CBF2441}"/>
              </a:ext>
            </a:extLst>
          </p:cNvPr>
          <p:cNvSpPr txBox="1"/>
          <p:nvPr/>
        </p:nvSpPr>
        <p:spPr>
          <a:xfrm>
            <a:off x="876300" y="4362450"/>
            <a:ext cx="4762500" cy="73456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>
                <a:solidFill>
                  <a:srgbClr val="334155"/>
                </a:solidFill>
                <a:latin typeface="Segoe UI"/>
                <a:ea typeface="Segoe UI"/>
              </a:rPr>
              <a:t>PCA90 · 7 components · 94,82% variance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>
                <a:solidFill>
                  <a:srgbClr val="334155"/>
                </a:solidFill>
                <a:latin typeface="Segoe UI"/>
                <a:ea typeface="Segoe UI"/>
              </a:rPr>
              <a:t>PCA95 · 8 components · 98,44% variance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766E"/>
                </a:solidFill>
                <a:latin typeface="Segoe UI"/>
                <a:ea typeface="Segoe UI"/>
              </a:rPr>
              <a:t>Final · no PCA: diễn giải trực tiếp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9BBD7332-6CBC-4260-A7E0-C1FCF3300854}"/>
              </a:ext>
            </a:extLst>
          </p:cNvPr>
          <p:cNvSpPr txBox="1"/>
          <p:nvPr/>
        </p:nvSpPr>
        <p:spPr>
          <a:xfrm>
            <a:off x="876300" y="5219700"/>
            <a:ext cx="47625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000" i="1">
                <a:solidFill>
                  <a:srgbClr val="64748B"/>
                </a:solidFill>
                <a:latin typeface="Segoe UI"/>
                <a:ea typeface="Segoe UI"/>
              </a:rPr>
              <a:t>Đa cộng tuyến được ghi nhận. PCA không phải “95% accuracy”; đây chỉ là một representation thay thế.</a:t>
            </a:r>
          </a:p>
        </p:txBody>
      </p:sp>
      <p:pic>
        <p:nvPicPr>
          <p:cNvPr id="30" name="Picture 30">
            <a:extLst>
              <a:ext uri="{FF2B5EF4-FFF2-40B4-BE49-F238E27FC236}">
                <a16:creationId xmlns:a16="http://schemas.microsoft.com/office/drawing/2014/main" id="{AA75B82A-FEBA-40CB-B10E-066BEAEDCF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72200" y="1619250"/>
            <a:ext cx="5410200" cy="4457700"/>
          </a:xfrm>
          <a:prstGeom prst="rect">
            <a:avLst/>
          </a:prstGeom>
        </p:spPr>
      </p:pic>
      <p:sp>
        <p:nvSpPr>
          <p:cNvPr id="31" name="TextBox 31">
            <a:extLst>
              <a:ext uri="{FF2B5EF4-FFF2-40B4-BE49-F238E27FC236}">
                <a16:creationId xmlns:a16="http://schemas.microsoft.com/office/drawing/2014/main" id="{1254F3D4-9588-46CD-8C79-F7D1B23024D7}"/>
              </a:ext>
            </a:extLst>
          </p:cNvPr>
          <p:cNvSpPr txBox="1"/>
          <p:nvPr/>
        </p:nvSpPr>
        <p:spPr>
          <a:xfrm>
            <a:off x="6172200" y="6115050"/>
            <a:ext cx="54102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Feature correlation — F9 trên 89.741 track</a:t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F3B7BEC0-C157-4607-B106-D3F5385DFBCE}"/>
              </a:ext>
            </a:extLst>
          </p:cNvPr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BD5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E8079628-3194-4531-AD0E-3ECC805FC6CB}"/>
              </a:ext>
            </a:extLst>
          </p:cNvPr>
          <p:cNvSpPr txBox="1"/>
          <p:nvPr/>
        </p:nvSpPr>
        <p:spPr>
          <a:xfrm>
            <a:off x="609600" y="6534150"/>
            <a:ext cx="9048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Nguồn: artifacts/eda/20261027T031519Z/figures/feature_correlation.png · artifacts/pca/20261027T031522Z/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F01AF94E-6ACA-47F5-9533-084828C644BB}"/>
              </a:ext>
            </a:extLst>
          </p:cNvPr>
          <p:cNvSpPr txBox="1"/>
          <p:nvPr/>
        </p:nvSpPr>
        <p:spPr>
          <a:xfrm>
            <a:off x="11201400" y="6534150"/>
            <a:ext cx="381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4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6134B39-A789-41E3-945C-7661DB2D321F}"/>
              </a:ext>
            </a:extLst>
          </p:cNvPr>
          <p:cNvSpPr txBox="1"/>
          <p:nvPr/>
        </p:nvSpPr>
        <p:spPr>
          <a:xfrm>
            <a:off x="609600" y="3429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F766E"/>
                </a:solidFill>
                <a:latin typeface="Segoe UI"/>
                <a:ea typeface="Segoe UI"/>
              </a:rPr>
              <a:t>BTL11 · 05 — PIPELINE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182F061-3C7E-445C-AB9C-816AAC704606}"/>
              </a:ext>
            </a:extLst>
          </p:cNvPr>
          <p:cNvSpPr txBox="1"/>
          <p:nvPr/>
        </p:nvSpPr>
        <p:spPr>
          <a:xfrm>
            <a:off x="609600" y="590550"/>
            <a:ext cx="10972800" cy="48768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0F172A"/>
                </a:solidFill>
                <a:latin typeface="Segoe UI"/>
                <a:ea typeface="Segoe UI"/>
              </a:rPr>
              <a:t>Pipeline &amp; kiểm soát leakage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9A14E6E-6BD3-468F-95C9-7109289CE30A}"/>
              </a:ext>
            </a:extLst>
          </p:cNvPr>
          <p:cNvSpPr txBox="1"/>
          <p:nvPr/>
        </p:nvSpPr>
        <p:spPr>
          <a:xfrm>
            <a:off x="609600" y="1104900"/>
            <a:ext cx="100012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475569"/>
                </a:solidFill>
                <a:latin typeface="Segoe UI"/>
                <a:ea typeface="Segoe UI"/>
              </a:rPr>
              <a:t>Một chiều từ raw CSV đến model khóa, holdout một lần và refit toàn bộ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DAFBBE1-02C1-4BB7-89BE-081AD4EECD10}"/>
              </a:ext>
            </a:extLst>
          </p:cNvPr>
          <p:cNvSpPr/>
          <p:nvPr/>
        </p:nvSpPr>
        <p:spPr>
          <a:xfrm>
            <a:off x="609600" y="2266950"/>
            <a:ext cx="10934700" cy="19050"/>
          </a:xfrm>
          <a:prstGeom prst="rect">
            <a:avLst/>
          </a:prstGeom>
          <a:solidFill>
            <a:srgbClr val="CBD5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33C8FE7-8C2A-4024-B250-889534BD9D86}"/>
              </a:ext>
            </a:extLst>
          </p:cNvPr>
          <p:cNvSpPr/>
          <p:nvPr/>
        </p:nvSpPr>
        <p:spPr>
          <a:xfrm>
            <a:off x="609600" y="2038350"/>
            <a:ext cx="1695450" cy="2724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12B08BF-F6FD-42E6-BDBA-4141E5C0F5B1}"/>
              </a:ext>
            </a:extLst>
          </p:cNvPr>
          <p:cNvSpPr/>
          <p:nvPr/>
        </p:nvSpPr>
        <p:spPr>
          <a:xfrm>
            <a:off x="800100" y="2228850"/>
            <a:ext cx="400050" cy="400050"/>
          </a:xfrm>
          <a:prstGeom prst="ellipse">
            <a:avLst/>
          </a:prstGeom>
          <a:solidFill>
            <a:srgbClr val="0F766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B313DC1-E6FC-481A-9381-61A6A30EEECC}"/>
              </a:ext>
            </a:extLst>
          </p:cNvPr>
          <p:cNvSpPr txBox="1"/>
          <p:nvPr/>
        </p:nvSpPr>
        <p:spPr>
          <a:xfrm>
            <a:off x="800100" y="2343150"/>
            <a:ext cx="40005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2E08CE3-E827-4721-874E-4AA40AB3D781}"/>
              </a:ext>
            </a:extLst>
          </p:cNvPr>
          <p:cNvSpPr txBox="1"/>
          <p:nvPr/>
        </p:nvSpPr>
        <p:spPr>
          <a:xfrm>
            <a:off x="800100" y="2781300"/>
            <a:ext cx="1333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</a:rPr>
              <a:t>Audit &amp; dedup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AD7B5CC-1B46-4435-A789-063F49C27CF0}"/>
              </a:ext>
            </a:extLst>
          </p:cNvPr>
          <p:cNvSpPr txBox="1"/>
          <p:nvPr/>
        </p:nvSpPr>
        <p:spPr>
          <a:xfrm>
            <a:off x="800100" y="3200400"/>
            <a:ext cx="1333500" cy="1371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Segoe UI"/>
                <a:ea typeface="Segoe UI"/>
              </a:rPr>
              <a:t>114.000 dòng → 89.741 track; 0 ID conflict; 894 dòng trùng hoàn toàn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93AAE401-71BA-41A2-9B32-9B5B4D217F8E}"/>
              </a:ext>
            </a:extLst>
          </p:cNvPr>
          <p:cNvSpPr/>
          <p:nvPr/>
        </p:nvSpPr>
        <p:spPr>
          <a:xfrm>
            <a:off x="2457450" y="2038350"/>
            <a:ext cx="1695450" cy="2724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B5929E57-59D9-49FD-8998-35CBE161E5A3}"/>
              </a:ext>
            </a:extLst>
          </p:cNvPr>
          <p:cNvSpPr/>
          <p:nvPr/>
        </p:nvSpPr>
        <p:spPr>
          <a:xfrm>
            <a:off x="2647950" y="2228850"/>
            <a:ext cx="400050" cy="400050"/>
          </a:xfrm>
          <a:prstGeom prst="ellipse">
            <a:avLst/>
          </a:prstGeom>
          <a:solidFill>
            <a:srgbClr val="0F766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10F0887-8EAC-4390-BC2C-948D44727B64}"/>
              </a:ext>
            </a:extLst>
          </p:cNvPr>
          <p:cNvSpPr txBox="1"/>
          <p:nvPr/>
        </p:nvSpPr>
        <p:spPr>
          <a:xfrm>
            <a:off x="2647950" y="2343150"/>
            <a:ext cx="40005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2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1D175AD-2729-4BE8-9FCF-CD6A541673C7}"/>
              </a:ext>
            </a:extLst>
          </p:cNvPr>
          <p:cNvSpPr txBox="1"/>
          <p:nvPr/>
        </p:nvSpPr>
        <p:spPr>
          <a:xfrm>
            <a:off x="2647950" y="2781300"/>
            <a:ext cx="1333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</a:rPr>
              <a:t>Split ID-disjoint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85FB2BB-C9DC-450D-BF3A-736917138692}"/>
              </a:ext>
            </a:extLst>
          </p:cNvPr>
          <p:cNvSpPr txBox="1"/>
          <p:nvPr/>
        </p:nvSpPr>
        <p:spPr>
          <a:xfrm>
            <a:off x="2647950" y="3200400"/>
            <a:ext cx="1333500" cy="1371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Segoe UI"/>
                <a:ea typeface="Segoe UI"/>
              </a:rPr>
              <a:t>hash(seed:track_id); dev 71.813 / holdout 17.928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199D31D0-2A1E-48E1-8B3A-A9F112945389}"/>
              </a:ext>
            </a:extLst>
          </p:cNvPr>
          <p:cNvSpPr/>
          <p:nvPr/>
        </p:nvSpPr>
        <p:spPr>
          <a:xfrm>
            <a:off x="4305300" y="2038350"/>
            <a:ext cx="1695450" cy="27241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F724C9B3-541C-4A3B-912C-1ACD3CB4FDCE}"/>
              </a:ext>
            </a:extLst>
          </p:cNvPr>
          <p:cNvSpPr/>
          <p:nvPr/>
        </p:nvSpPr>
        <p:spPr>
          <a:xfrm>
            <a:off x="4495800" y="2228850"/>
            <a:ext cx="400050" cy="400050"/>
          </a:xfrm>
          <a:prstGeom prst="ellipse">
            <a:avLst/>
          </a:prstGeom>
          <a:solidFill>
            <a:srgbClr val="0F766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44BB62D-B7C2-4E16-B800-1F5D9CC0531D}"/>
              </a:ext>
            </a:extLst>
          </p:cNvPr>
          <p:cNvSpPr txBox="1"/>
          <p:nvPr/>
        </p:nvSpPr>
        <p:spPr>
          <a:xfrm>
            <a:off x="4495800" y="2343150"/>
            <a:ext cx="40005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3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08C092B-A7FD-46BC-AF3E-FF161A778844}"/>
              </a:ext>
            </a:extLst>
          </p:cNvPr>
          <p:cNvSpPr txBox="1"/>
          <p:nvPr/>
        </p:nvSpPr>
        <p:spPr>
          <a:xfrm>
            <a:off x="4495800" y="2781300"/>
            <a:ext cx="1333500" cy="44805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</a:rPr>
              <a:t>Fit-only transform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3366104-BBF4-4CD8-93A2-88016E839C82}"/>
              </a:ext>
            </a:extLst>
          </p:cNvPr>
          <p:cNvSpPr txBox="1"/>
          <p:nvPr/>
        </p:nvSpPr>
        <p:spPr>
          <a:xfrm>
            <a:off x="4495800" y="3200400"/>
            <a:ext cx="1333500" cy="1371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Segoe UI"/>
                <a:ea typeface="Segoe UI"/>
              </a:rPr>
              <a:t>Scaler và PCA chỉ fit trên 68.813 fit IDs; eval/holdout chỉ transform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DE61FC17-1527-442A-A1B6-81ECCCA0D617}"/>
              </a:ext>
            </a:extLst>
          </p:cNvPr>
          <p:cNvSpPr/>
          <p:nvPr/>
        </p:nvSpPr>
        <p:spPr>
          <a:xfrm>
            <a:off x="6153150" y="2038350"/>
            <a:ext cx="1695450" cy="2724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1AA17524-1D62-4DE5-991A-A24DB4908036}"/>
              </a:ext>
            </a:extLst>
          </p:cNvPr>
          <p:cNvSpPr/>
          <p:nvPr/>
        </p:nvSpPr>
        <p:spPr>
          <a:xfrm>
            <a:off x="6343650" y="2228850"/>
            <a:ext cx="400050" cy="400050"/>
          </a:xfrm>
          <a:prstGeom prst="ellipse">
            <a:avLst/>
          </a:prstGeom>
          <a:solidFill>
            <a:srgbClr val="0F766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D880DD8-55F8-4CE6-9E80-B7048147E37B}"/>
              </a:ext>
            </a:extLst>
          </p:cNvPr>
          <p:cNvSpPr txBox="1"/>
          <p:nvPr/>
        </p:nvSpPr>
        <p:spPr>
          <a:xfrm>
            <a:off x="6343650" y="2343150"/>
            <a:ext cx="40005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4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D669B05-206F-45DE-9BF0-DD182BAAFA2C}"/>
              </a:ext>
            </a:extLst>
          </p:cNvPr>
          <p:cNvSpPr txBox="1"/>
          <p:nvPr/>
        </p:nvSpPr>
        <p:spPr>
          <a:xfrm>
            <a:off x="6343650" y="2781300"/>
            <a:ext cx="1333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</a:rPr>
              <a:t>Eval cohort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E799021-D9E9-4758-A6A4-C06A215A948B}"/>
              </a:ext>
            </a:extLst>
          </p:cNvPr>
          <p:cNvSpPr txBox="1"/>
          <p:nvPr/>
        </p:nvSpPr>
        <p:spPr>
          <a:xfrm>
            <a:off x="6343650" y="3200400"/>
            <a:ext cx="1333500" cy="1371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Segoe UI"/>
                <a:ea typeface="Segoe UI"/>
              </a:rPr>
              <a:t>3.000 track ngoài fit; chấm Silhouette / DB / CH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771F1CDB-AAC9-44FE-A459-D3921C484472}"/>
              </a:ext>
            </a:extLst>
          </p:cNvPr>
          <p:cNvSpPr/>
          <p:nvPr/>
        </p:nvSpPr>
        <p:spPr>
          <a:xfrm>
            <a:off x="8001000" y="2038350"/>
            <a:ext cx="1695450" cy="2724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4C5ADED6-18B8-4B1F-8767-E50D35F3E683}"/>
              </a:ext>
            </a:extLst>
          </p:cNvPr>
          <p:cNvSpPr/>
          <p:nvPr/>
        </p:nvSpPr>
        <p:spPr>
          <a:xfrm>
            <a:off x="8191500" y="2228850"/>
            <a:ext cx="400050" cy="400050"/>
          </a:xfrm>
          <a:prstGeom prst="ellipse">
            <a:avLst/>
          </a:prstGeom>
          <a:solidFill>
            <a:srgbClr val="0F766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223D1A18-FA58-48C7-A480-AC51E3041480}"/>
              </a:ext>
            </a:extLst>
          </p:cNvPr>
          <p:cNvSpPr txBox="1"/>
          <p:nvPr/>
        </p:nvSpPr>
        <p:spPr>
          <a:xfrm>
            <a:off x="8191500" y="2343150"/>
            <a:ext cx="40005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5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657066BF-1920-4497-9834-453B3222DA13}"/>
              </a:ext>
            </a:extLst>
          </p:cNvPr>
          <p:cNvSpPr txBox="1"/>
          <p:nvPr/>
        </p:nvSpPr>
        <p:spPr>
          <a:xfrm>
            <a:off x="8191500" y="2781300"/>
            <a:ext cx="1333500" cy="44805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</a:rPr>
              <a:t>Freeze &amp; holdout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3ED38552-0C65-436A-8138-B74E2DF2B9D9}"/>
              </a:ext>
            </a:extLst>
          </p:cNvPr>
          <p:cNvSpPr txBox="1"/>
          <p:nvPr/>
        </p:nvSpPr>
        <p:spPr>
          <a:xfrm>
            <a:off x="8191500" y="3200400"/>
            <a:ext cx="1333500" cy="1371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Segoe UI"/>
                <a:ea typeface="Segoe UI"/>
              </a:rPr>
              <a:t>Khóa model trước; holdout đúng một lần, không refit</a:t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2D1DF637-F423-4E0D-9C92-7DFC29A604EA}"/>
              </a:ext>
            </a:extLst>
          </p:cNvPr>
          <p:cNvSpPr/>
          <p:nvPr/>
        </p:nvSpPr>
        <p:spPr>
          <a:xfrm>
            <a:off x="9848850" y="2038350"/>
            <a:ext cx="1695450" cy="2724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43D46C6B-BACB-4FC0-9275-A1883C5398AE}"/>
              </a:ext>
            </a:extLst>
          </p:cNvPr>
          <p:cNvSpPr/>
          <p:nvPr/>
        </p:nvSpPr>
        <p:spPr>
          <a:xfrm>
            <a:off x="10039350" y="2228850"/>
            <a:ext cx="400050" cy="400050"/>
          </a:xfrm>
          <a:prstGeom prst="ellipse">
            <a:avLst/>
          </a:prstGeom>
          <a:solidFill>
            <a:srgbClr val="0F766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5DB9AA62-E803-475C-93C8-4C3705EC30B7}"/>
              </a:ext>
            </a:extLst>
          </p:cNvPr>
          <p:cNvSpPr txBox="1"/>
          <p:nvPr/>
        </p:nvSpPr>
        <p:spPr>
          <a:xfrm>
            <a:off x="10039350" y="2343150"/>
            <a:ext cx="40005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6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75B2ACE2-EAC1-46F9-B7B1-F3CDC80D2DD3}"/>
              </a:ext>
            </a:extLst>
          </p:cNvPr>
          <p:cNvSpPr txBox="1"/>
          <p:nvPr/>
        </p:nvSpPr>
        <p:spPr>
          <a:xfrm>
            <a:off x="10039350" y="2781300"/>
            <a:ext cx="1333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</a:rPr>
              <a:t>Full refit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41446D45-26A0-47FA-8684-C9FC8A45E7ED}"/>
              </a:ext>
            </a:extLst>
          </p:cNvPr>
          <p:cNvSpPr txBox="1"/>
          <p:nvPr/>
        </p:nvSpPr>
        <p:spPr>
          <a:xfrm>
            <a:off x="10039350" y="3200400"/>
            <a:ext cx="1333500" cy="1371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Segoe UI"/>
                <a:ea typeface="Segoe UI"/>
              </a:rPr>
              <a:t>Fit 89.741 track; model identity riêng, không kế thừa holdout metric</a:t>
            </a:r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88CB0B1B-B6DA-44C4-88B5-89ACCB3DB859}"/>
              </a:ext>
            </a:extLst>
          </p:cNvPr>
          <p:cNvSpPr/>
          <p:nvPr/>
        </p:nvSpPr>
        <p:spPr>
          <a:xfrm>
            <a:off x="609600" y="5067300"/>
            <a:ext cx="10972800" cy="800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9F0F1597-97BB-4306-AA77-1B41784467BA}"/>
              </a:ext>
            </a:extLst>
          </p:cNvPr>
          <p:cNvSpPr txBox="1"/>
          <p:nvPr/>
        </p:nvSpPr>
        <p:spPr>
          <a:xfrm>
            <a:off x="876300" y="5219700"/>
            <a:ext cx="10439400" cy="5143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</a:rPr>
              <a:t>Điều bất biến: </a:t>
            </a:r>
            <a:r>
              <a:rPr sz="1400">
                <a:solidFill>
                  <a:srgbClr val="334155"/>
                </a:solidFill>
                <a:latin typeface="Segoe UI"/>
                <a:ea typeface="Segoe UI"/>
              </a:rPr>
              <a:t>không track nào vừa fit vừa chấm; holdout không được dùng để retune; final refit là model khác với evaluation model.</a:t>
            </a:r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E21C3E12-73A0-47B2-BBB0-1C1ED20AAB98}"/>
              </a:ext>
            </a:extLst>
          </p:cNvPr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BD5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6FED55DF-6250-4E50-9FA1-623F9788CA31}"/>
              </a:ext>
            </a:extLst>
          </p:cNvPr>
          <p:cNvSpPr txBox="1"/>
          <p:nvPr/>
        </p:nvSpPr>
        <p:spPr>
          <a:xfrm>
            <a:off x="609600" y="6534150"/>
            <a:ext cx="9048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Nguồn: docs/METHODOLOGY.md · docs/EXPERIMENTS.md §6.2 · test leakage trong tests/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60B497FC-B9ED-45BA-816A-6887713C26BC}"/>
              </a:ext>
            </a:extLst>
          </p:cNvPr>
          <p:cNvSpPr txBox="1"/>
          <p:nvPr/>
        </p:nvSpPr>
        <p:spPr>
          <a:xfrm>
            <a:off x="11201400" y="6534150"/>
            <a:ext cx="381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5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FD3012A-6748-442A-9326-7EB3CEA389BA}"/>
              </a:ext>
            </a:extLst>
          </p:cNvPr>
          <p:cNvSpPr txBox="1"/>
          <p:nvPr/>
        </p:nvSpPr>
        <p:spPr>
          <a:xfrm>
            <a:off x="609600" y="3429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F766E"/>
                </a:solidFill>
                <a:latin typeface="Segoe UI"/>
                <a:ea typeface="Segoe UI"/>
              </a:rPr>
              <a:t>BTL11 · 06 — HAI HỌ MÔ HÌNH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AABC6D1-9059-4305-8149-7C937496FEF7}"/>
              </a:ext>
            </a:extLst>
          </p:cNvPr>
          <p:cNvSpPr txBox="1"/>
          <p:nvPr/>
        </p:nvSpPr>
        <p:spPr>
          <a:xfrm>
            <a:off x="609600" y="590550"/>
            <a:ext cx="10972800" cy="48768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0F172A"/>
                </a:solidFill>
                <a:latin typeface="Segoe UI"/>
                <a:ea typeface="Segoe UI"/>
              </a:rPr>
              <a:t>K-Means và GMM khác nhau thế nào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EBD8CE0-185C-456F-92F7-1D1E00C62094}"/>
              </a:ext>
            </a:extLst>
          </p:cNvPr>
          <p:cNvSpPr txBox="1"/>
          <p:nvPr/>
        </p:nvSpPr>
        <p:spPr>
          <a:xfrm>
            <a:off x="609600" y="1104900"/>
            <a:ext cx="100012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475569"/>
                </a:solidFill>
                <a:latin typeface="Segoe UI"/>
                <a:ea typeface="Segoe UI"/>
              </a:rPr>
              <a:t>Cùng dataset và F9; K-Means dùng Robust, GMM baseline dùng Standard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C00E474-3DC9-42B8-81AC-793095C0D9C4}"/>
              </a:ext>
            </a:extLst>
          </p:cNvPr>
          <p:cNvSpPr/>
          <p:nvPr/>
        </p:nvSpPr>
        <p:spPr>
          <a:xfrm>
            <a:off x="609600" y="1619250"/>
            <a:ext cx="5334000" cy="3714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9849382-2F22-4872-9A86-931B1FABEDD2}"/>
              </a:ext>
            </a:extLst>
          </p:cNvPr>
          <p:cNvSpPr txBox="1"/>
          <p:nvPr/>
        </p:nvSpPr>
        <p:spPr>
          <a:xfrm>
            <a:off x="876300" y="1847850"/>
            <a:ext cx="4762500" cy="33528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0F172A"/>
                </a:solidFill>
                <a:latin typeface="Segoe UI"/>
                <a:ea typeface="Segoe UI"/>
              </a:rPr>
              <a:t>K-Means — hard partition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B4E4AF9-0278-4F47-B25A-44101C3849C2}"/>
              </a:ext>
            </a:extLst>
          </p:cNvPr>
          <p:cNvSpPr txBox="1"/>
          <p:nvPr/>
        </p:nvSpPr>
        <p:spPr>
          <a:xfrm>
            <a:off x="876300" y="2190750"/>
            <a:ext cx="4762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  <a:ea typeface="Segoe UI"/>
              </a:rPr>
              <a:t>centroid · SSE · mỗi track thuộc đúng một cụm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3B4F5EF-12D3-4A8A-A72E-6FE623C813E2}"/>
              </a:ext>
            </a:extLst>
          </p:cNvPr>
          <p:cNvSpPr txBox="1"/>
          <p:nvPr/>
        </p:nvSpPr>
        <p:spPr>
          <a:xfrm>
            <a:off x="876300" y="2533650"/>
            <a:ext cx="47625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>
                <a:solidFill>
                  <a:srgbClr val="334155"/>
                </a:solidFill>
                <a:latin typeface="Segoe UI"/>
                <a:ea typeface="Segoe UI"/>
              </a:rPr>
              <a:t>k-means++ · n_init=20 · seed 42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>
                <a:solidFill>
                  <a:srgbClr val="334155"/>
                </a:solidFill>
                <a:latin typeface="Segoe UI"/>
                <a:ea typeface="Segoe UI"/>
              </a:rPr>
              <a:t>F9 · RobustScaler · không PCA · K=2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334155"/>
                </a:solidFill>
                <a:latin typeface="Segoe UI"/>
                <a:ea typeface="Segoe UI"/>
              </a:rPr>
              <a:t>Hai persona rộng, gần như bất biến qua seed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704E5FC-5F2B-4E44-B0EC-2387F62D68C4}"/>
              </a:ext>
            </a:extLst>
          </p:cNvPr>
          <p:cNvSpPr txBox="1"/>
          <p:nvPr/>
        </p:nvSpPr>
        <p:spPr>
          <a:xfrm>
            <a:off x="876300" y="3714750"/>
            <a:ext cx="4762500" cy="731520"/>
          </a:xfrm>
        </p:spPr>
        <p:txBody>
          <a:bodyPr wrap="square" rtlCol="0" lIns="0" tIns="0" rIns="0" bIns="0" anchor="t"/>
          <a:lstStyle/>
          <a:p>
            <a:pPr algn="l"/>
            <a:r>
              <a:rPr sz="4800" b="1">
                <a:solidFill>
                  <a:srgbClr val="0F766E"/>
                </a:solidFill>
                <a:latin typeface="Segoe UI"/>
                <a:ea typeface="Segoe UI"/>
              </a:rPr>
              <a:t>0,5956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37E8D1F-B7AC-4538-813E-190E3C9EF1A3}"/>
              </a:ext>
            </a:extLst>
          </p:cNvPr>
          <p:cNvSpPr txBox="1"/>
          <p:nvPr/>
        </p:nvSpPr>
        <p:spPr>
          <a:xfrm>
            <a:off x="876300" y="4419600"/>
            <a:ext cx="47625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  <a:ea typeface="Segoe UI"/>
              </a:rPr>
              <a:t>Silhouette trên development cohort (n = 3.000)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CF7E3534-CD5B-41E9-B052-35F7A06B9CED}"/>
              </a:ext>
            </a:extLst>
          </p:cNvPr>
          <p:cNvSpPr/>
          <p:nvPr/>
        </p:nvSpPr>
        <p:spPr>
          <a:xfrm>
            <a:off x="6248400" y="1619250"/>
            <a:ext cx="533400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4C48A51-21C1-4E35-8D1A-77DC8A9303FF}"/>
              </a:ext>
            </a:extLst>
          </p:cNvPr>
          <p:cNvSpPr txBox="1"/>
          <p:nvPr/>
        </p:nvSpPr>
        <p:spPr>
          <a:xfrm>
            <a:off x="6515100" y="1847850"/>
            <a:ext cx="4762500" cy="33528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0F172A"/>
                </a:solidFill>
                <a:latin typeface="Segoe UI"/>
                <a:ea typeface="Segoe UI"/>
              </a:rPr>
              <a:t>GMM — soft posterior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445ABEC-C404-40CB-8F34-3731B8FBAC9A}"/>
              </a:ext>
            </a:extLst>
          </p:cNvPr>
          <p:cNvSpPr txBox="1"/>
          <p:nvPr/>
        </p:nvSpPr>
        <p:spPr>
          <a:xfrm>
            <a:off x="6515100" y="2190750"/>
            <a:ext cx="4762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  <a:ea typeface="Segoe UI"/>
              </a:rPr>
              <a:t>EM · likelihood · mỗi track có vector trách nhiệm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44C86E3-D426-4AAA-9C68-48CC17979C3E}"/>
              </a:ext>
            </a:extLst>
          </p:cNvPr>
          <p:cNvSpPr txBox="1"/>
          <p:nvPr/>
        </p:nvSpPr>
        <p:spPr>
          <a:xfrm>
            <a:off x="6515100" y="2533650"/>
            <a:ext cx="47625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>
                <a:solidFill>
                  <a:srgbClr val="334155"/>
                </a:solidFill>
                <a:latin typeface="Segoe UI"/>
                <a:ea typeface="Segoe UI"/>
              </a:rPr>
              <a:t>F9 · StandardScaler · no PCA · covariance diag/full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>
                <a:solidFill>
                  <a:srgbClr val="334155"/>
                </a:solidFill>
                <a:latin typeface="Segoe UI"/>
                <a:ea typeface="Segoe UI"/>
              </a:rPr>
              <a:t>Hard label = argmax posterior; không phải xác suất genre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334155"/>
                </a:solidFill>
                <a:latin typeface="Segoe UI"/>
                <a:ea typeface="Segoe UI"/>
              </a:rPr>
              <a:t>Full K=4: BIC 853.058 · confidence trung bình 0,9578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E4C688E-1719-403A-8140-42E731B282EF}"/>
              </a:ext>
            </a:extLst>
          </p:cNvPr>
          <p:cNvSpPr txBox="1"/>
          <p:nvPr/>
        </p:nvSpPr>
        <p:spPr>
          <a:xfrm>
            <a:off x="6515100" y="3714750"/>
            <a:ext cx="4762500" cy="731520"/>
          </a:xfrm>
        </p:spPr>
        <p:txBody>
          <a:bodyPr wrap="square" rtlCol="0" lIns="0" tIns="0" rIns="0" bIns="0" anchor="t"/>
          <a:lstStyle/>
          <a:p>
            <a:pPr algn="l"/>
            <a:r>
              <a:rPr sz="4800" b="1">
                <a:solidFill>
                  <a:srgbClr val="0F766E"/>
                </a:solidFill>
                <a:latin typeface="Segoe UI"/>
                <a:ea typeface="Segoe UI"/>
              </a:rPr>
              <a:t>0,0547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4D49327-250D-4815-8824-581FB0DFD774}"/>
              </a:ext>
            </a:extLst>
          </p:cNvPr>
          <p:cNvSpPr txBox="1"/>
          <p:nvPr/>
        </p:nvSpPr>
        <p:spPr>
          <a:xfrm>
            <a:off x="6515100" y="4419600"/>
            <a:ext cx="47625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  <a:ea typeface="Segoe UI"/>
              </a:rPr>
              <a:t>Silhouette hard-label của GMM full K=4 (F9/Standard) trên eval cohort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AEF6A1FF-5563-479F-AD66-F71B3354FFBF}"/>
              </a:ext>
            </a:extLst>
          </p:cNvPr>
          <p:cNvSpPr/>
          <p:nvPr/>
        </p:nvSpPr>
        <p:spPr>
          <a:xfrm>
            <a:off x="609600" y="5562600"/>
            <a:ext cx="10972800" cy="590550"/>
          </a:xfrm>
          <a:prstGeom prst="roundRect">
            <a:avLst/>
          </a:prstGeom>
          <a:solidFill>
            <a:srgbClr val="0F766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15026CB-6A13-4BF3-AC7D-D2B732AD247B}"/>
              </a:ext>
            </a:extLst>
          </p:cNvPr>
          <p:cNvSpPr txBox="1"/>
          <p:nvPr/>
        </p:nvSpPr>
        <p:spPr>
          <a:xfrm>
            <a:off x="876300" y="5715000"/>
            <a:ext cx="104394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K-Means robust K=2 được chọn cho phân đoạn cứng; GMM full K=4 là comparator mềm.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54229CAC-5DD0-4542-BD61-BF986A371480}"/>
              </a:ext>
            </a:extLst>
          </p:cNvPr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BD5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6BA13CF-6D83-4527-A998-66436A28150D}"/>
              </a:ext>
            </a:extLst>
          </p:cNvPr>
          <p:cNvSpPr txBox="1"/>
          <p:nvPr/>
        </p:nvSpPr>
        <p:spPr>
          <a:xfrm>
            <a:off x="609600" y="6534150"/>
            <a:ext cx="9048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Nguồn: artifacts/final-report-tables/REPORT_TABLES.md §2–3 · run GMM full K4 20261027T031644Z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2DB16ED-AF94-45CE-87EA-EE891DC93578}"/>
              </a:ext>
            </a:extLst>
          </p:cNvPr>
          <p:cNvSpPr txBox="1"/>
          <p:nvPr/>
        </p:nvSpPr>
        <p:spPr>
          <a:xfrm>
            <a:off x="11201400" y="6534150"/>
            <a:ext cx="381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6 / 12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55C60CE-CB4D-40BA-A720-F30BA109C1BC}"/>
              </a:ext>
            </a:extLst>
          </p:cNvPr>
          <p:cNvSpPr txBox="1"/>
          <p:nvPr/>
        </p:nvSpPr>
        <p:spPr>
          <a:xfrm>
            <a:off x="609600" y="5295900"/>
            <a:ext cx="10972800" cy="247650"/>
          </a:xfrm>
        </p:spPr>
        <p:txBody>
          <a:bodyPr wrap="square" rtlCol="0"/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Hai run khác scaler space (Robust vs Standard); không so trực tiếp silhouette xuyên space.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C24106A-D6AF-4A94-89A4-D7EFAC1EF424}"/>
              </a:ext>
            </a:extLst>
          </p:cNvPr>
          <p:cNvSpPr txBox="1"/>
          <p:nvPr/>
        </p:nvSpPr>
        <p:spPr>
          <a:xfrm>
            <a:off x="609600" y="3429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F766E"/>
                </a:solidFill>
                <a:latin typeface="Segoe UI"/>
                <a:ea typeface="Segoe UI"/>
              </a:rPr>
              <a:t>BTL11 · 07 — CHỌN K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D9725EC-A566-40F4-A41D-3DD26EACE713}"/>
              </a:ext>
            </a:extLst>
          </p:cNvPr>
          <p:cNvSpPr txBox="1"/>
          <p:nvPr/>
        </p:nvSpPr>
        <p:spPr>
          <a:xfrm>
            <a:off x="609600" y="590550"/>
            <a:ext cx="10972800" cy="48768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0F172A"/>
                </a:solidFill>
                <a:latin typeface="Segoe UI"/>
                <a:ea typeface="Segoe UI"/>
              </a:rPr>
              <a:t>Chọn K: validity, balance, stability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FB0D96C-2FF3-4775-B153-D95D300D1F74}"/>
              </a:ext>
            </a:extLst>
          </p:cNvPr>
          <p:cNvSpPr txBox="1"/>
          <p:nvPr/>
        </p:nvSpPr>
        <p:spPr>
          <a:xfrm>
            <a:off x="609600" y="1104900"/>
            <a:ext cx="100012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475569"/>
                </a:solidFill>
                <a:latin typeface="Segoe UI"/>
                <a:ea typeface="Segoe UI"/>
              </a:rPr>
              <a:t>Không có K nào thắng mọi metric; quyết định là multi-criteria và được khóa trước holdout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C5624AA-1866-4ED2-A9A8-D862FDE509CD}"/>
              </a:ext>
            </a:extLst>
          </p:cNvPr>
          <p:cNvSpPr/>
          <p:nvPr/>
        </p:nvSpPr>
        <p:spPr>
          <a:xfrm>
            <a:off x="609600" y="1619250"/>
            <a:ext cx="3505200" cy="11239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23F9790-85AF-4CF5-A458-C1F99CCA507F}"/>
              </a:ext>
            </a:extLst>
          </p:cNvPr>
          <p:cNvSpPr txBox="1"/>
          <p:nvPr/>
        </p:nvSpPr>
        <p:spPr>
          <a:xfrm>
            <a:off x="838200" y="1752600"/>
            <a:ext cx="3048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0F766E"/>
                </a:solidFill>
                <a:latin typeface="Segoe UI"/>
                <a:ea typeface="Segoe UI"/>
              </a:rPr>
              <a:t>K = 2  ·  được chọn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7F7150E-BE4D-4D07-A26C-2EB75FE28D29}"/>
              </a:ext>
            </a:extLst>
          </p:cNvPr>
          <p:cNvSpPr txBox="1"/>
          <p:nvPr/>
        </p:nvSpPr>
        <p:spPr>
          <a:xfrm>
            <a:off x="838200" y="2000250"/>
            <a:ext cx="304800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0F172A"/>
                </a:solidFill>
                <a:latin typeface="Segoe UI"/>
                <a:ea typeface="Segoe UI"/>
              </a:rPr>
              <a:t>0,5956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E51AD95-F93E-4343-B353-0879B8602B50}"/>
              </a:ext>
            </a:extLst>
          </p:cNvPr>
          <p:cNvSpPr txBox="1"/>
          <p:nvPr/>
        </p:nvSpPr>
        <p:spPr>
          <a:xfrm>
            <a:off x="838200" y="2533650"/>
            <a:ext cx="3048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silhouette · min share 19,55% · ARI 0,9997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38823350-4B91-4CFA-BFF9-D2065EAD9C8E}"/>
              </a:ext>
            </a:extLst>
          </p:cNvPr>
          <p:cNvSpPr/>
          <p:nvPr/>
        </p:nvSpPr>
        <p:spPr>
          <a:xfrm>
            <a:off x="4343400" y="1619250"/>
            <a:ext cx="3505200" cy="1123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BFA3569-AFB6-4EFB-A803-6952E911D9A7}"/>
              </a:ext>
            </a:extLst>
          </p:cNvPr>
          <p:cNvSpPr txBox="1"/>
          <p:nvPr/>
        </p:nvSpPr>
        <p:spPr>
          <a:xfrm>
            <a:off x="4572000" y="1752600"/>
            <a:ext cx="3048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34155"/>
                </a:solidFill>
                <a:latin typeface="Segoe UI"/>
                <a:ea typeface="Segoe UI"/>
              </a:rPr>
              <a:t>K = 4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52A14DB-598C-42B3-95C5-1DAF02127DBB}"/>
              </a:ext>
            </a:extLst>
          </p:cNvPr>
          <p:cNvSpPr txBox="1"/>
          <p:nvPr/>
        </p:nvSpPr>
        <p:spPr>
          <a:xfrm>
            <a:off x="4572000" y="2000250"/>
            <a:ext cx="304800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0F172A"/>
                </a:solidFill>
                <a:latin typeface="Segoe UI"/>
                <a:ea typeface="Segoe UI"/>
              </a:rPr>
              <a:t>0,4884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D1E6BFC-1318-496A-B23E-57BC025D5B20}"/>
              </a:ext>
            </a:extLst>
          </p:cNvPr>
          <p:cNvSpPr txBox="1"/>
          <p:nvPr/>
        </p:nvSpPr>
        <p:spPr>
          <a:xfrm>
            <a:off x="4572000" y="2533650"/>
            <a:ext cx="3048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silhouette · min share 1,02%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74D6ADFB-5EC2-43CB-BC41-8C8797D5C87A}"/>
              </a:ext>
            </a:extLst>
          </p:cNvPr>
          <p:cNvSpPr/>
          <p:nvPr/>
        </p:nvSpPr>
        <p:spPr>
          <a:xfrm>
            <a:off x="8077200" y="1619250"/>
            <a:ext cx="3505200" cy="1123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74DB94A-3F99-49F1-B84D-42DE70A5B1EE}"/>
              </a:ext>
            </a:extLst>
          </p:cNvPr>
          <p:cNvSpPr txBox="1"/>
          <p:nvPr/>
        </p:nvSpPr>
        <p:spPr>
          <a:xfrm>
            <a:off x="8305800" y="1752600"/>
            <a:ext cx="3048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34155"/>
                </a:solidFill>
                <a:latin typeface="Segoe UI"/>
                <a:ea typeface="Segoe UI"/>
              </a:rPr>
              <a:t>K = 6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5AD6278-5C6C-4094-B09D-EB129FF75A2F}"/>
              </a:ext>
            </a:extLst>
          </p:cNvPr>
          <p:cNvSpPr txBox="1"/>
          <p:nvPr/>
        </p:nvSpPr>
        <p:spPr>
          <a:xfrm>
            <a:off x="8305800" y="2000250"/>
            <a:ext cx="3048000" cy="51816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0F172A"/>
                </a:solidFill>
                <a:latin typeface="Segoe UI"/>
                <a:ea typeface="Segoe UI"/>
              </a:rPr>
              <a:t>0,3374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6D496D8-AE30-49D7-934D-FDB7A2C59DC2}"/>
              </a:ext>
            </a:extLst>
          </p:cNvPr>
          <p:cNvSpPr txBox="1"/>
          <p:nvPr/>
        </p:nvSpPr>
        <p:spPr>
          <a:xfrm>
            <a:off x="8305800" y="2533650"/>
            <a:ext cx="3048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silhouette · min share 1,01% · ARI 0,9164</a:t>
            </a:r>
          </a:p>
        </p:txBody>
      </p:sp>
      <p:pic>
        <p:nvPicPr>
          <p:cNvPr id="18" name="Picture 18">
            <a:extLst>
              <a:ext uri="{FF2B5EF4-FFF2-40B4-BE49-F238E27FC236}">
                <a16:creationId xmlns:a16="http://schemas.microsoft.com/office/drawing/2014/main" id="{A3449457-9E48-4874-B5DC-FC10F6208D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" y="2971800"/>
            <a:ext cx="7620000" cy="2447925"/>
          </a:xfrm>
          <a:prstGeom prst="rect">
            <a:avLst/>
          </a:prstGeom>
        </p:spPr>
      </p:pic>
      <p:sp>
        <p:nvSpPr>
          <p:cNvPr id="19" name="Shape 19">
            <a:extLst>
              <a:ext uri="{FF2B5EF4-FFF2-40B4-BE49-F238E27FC236}">
                <a16:creationId xmlns:a16="http://schemas.microsoft.com/office/drawing/2014/main" id="{55B0B80C-1C93-4774-A772-4815A1754129}"/>
              </a:ext>
            </a:extLst>
          </p:cNvPr>
          <p:cNvSpPr/>
          <p:nvPr/>
        </p:nvSpPr>
        <p:spPr>
          <a:xfrm>
            <a:off x="8458200" y="2971800"/>
            <a:ext cx="3124200" cy="24479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10439F7-FF97-4EF4-8887-207262D220BE}"/>
              </a:ext>
            </a:extLst>
          </p:cNvPr>
          <p:cNvSpPr txBox="1"/>
          <p:nvPr/>
        </p:nvSpPr>
        <p:spPr>
          <a:xfrm>
            <a:off x="8667750" y="3124200"/>
            <a:ext cx="27241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  <a:ea typeface="Segoe UI"/>
              </a:rPr>
              <a:t>Vì sao K = 2?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CD646F7-0406-4B0F-81BB-0009E6D94B89}"/>
              </a:ext>
            </a:extLst>
          </p:cNvPr>
          <p:cNvSpPr txBox="1"/>
          <p:nvPr/>
        </p:nvSpPr>
        <p:spPr>
          <a:xfrm>
            <a:off x="8667750" y="3409950"/>
            <a:ext cx="2724150" cy="1905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  <a:latin typeface="Segoe UI"/>
                <a:ea typeface="Segoe UI"/>
              </a:rPr>
              <a:t>Silhouette và CH cao nhất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  <a:latin typeface="Segoe UI"/>
                <a:ea typeface="Segoe UI"/>
              </a:rPr>
              <a:t>Cụm nhỏ nhất vẫn 19,55% trên fit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  <a:latin typeface="Segoe UI"/>
                <a:ea typeface="Segoe UI"/>
              </a:rPr>
              <a:t>Seed/bootstrap ARI 0,9997 / 0,9991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  <a:latin typeface="Segoe UI"/>
                <a:ea typeface="Segoe UI"/>
              </a:rPr>
              <a:t>K=6 giàu profile hơn nhưng cụm ~1,1% và ARI 0,916</a:t>
            </a:r>
          </a:p>
          <a:p>
            <a:pPr algn="l">
              <a:lnSpc>
                <a:spcPct val="118000"/>
              </a:lnSpc>
            </a:pPr>
            <a:r>
              <a:rPr sz="1050" b="1">
                <a:solidFill>
                  <a:srgbClr val="0F766E"/>
                </a:solidFill>
                <a:latin typeface="Segoe UI"/>
                <a:ea typeface="Segoe UI"/>
              </a:rPr>
              <a:t>K=2 được khóa trước khi mở holdout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D657159-8C7D-4DB5-9007-1486688D547E}"/>
              </a:ext>
            </a:extLst>
          </p:cNvPr>
          <p:cNvSpPr txBox="1"/>
          <p:nvPr/>
        </p:nvSpPr>
        <p:spPr>
          <a:xfrm>
            <a:off x="609600" y="5524500"/>
            <a:ext cx="109728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K-Means F9/Robust/no-PCA · eval cohort 3.000 track · không so silhouette xuyên representation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D54A1207-092B-44B4-952D-7E969B032CF3}"/>
              </a:ext>
            </a:extLst>
          </p:cNvPr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BD5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2DD396C-3759-469B-9005-D77A7B4D916F}"/>
              </a:ext>
            </a:extLst>
          </p:cNvPr>
          <p:cNvSpPr txBox="1"/>
          <p:nvPr/>
        </p:nvSpPr>
        <p:spPr>
          <a:xfrm>
            <a:off x="609600" y="6534150"/>
            <a:ext cx="9048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Nguồn: artifacts/comparisons/baseline_f9_standard/20261027T032015Z · REPORT_TABLES.md §2, §5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96709FD3-BF94-494C-8255-8A87A76DB387}"/>
              </a:ext>
            </a:extLst>
          </p:cNvPr>
          <p:cNvSpPr txBox="1"/>
          <p:nvPr/>
        </p:nvSpPr>
        <p:spPr>
          <a:xfrm>
            <a:off x="11201400" y="6534150"/>
            <a:ext cx="381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7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0A31EDF-2339-45BB-B1B2-5EC301714FF3}"/>
              </a:ext>
            </a:extLst>
          </p:cNvPr>
          <p:cNvSpPr txBox="1"/>
          <p:nvPr/>
        </p:nvSpPr>
        <p:spPr>
          <a:xfrm>
            <a:off x="609600" y="3429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F766E"/>
                </a:solidFill>
                <a:latin typeface="Segoe UI"/>
                <a:ea typeface="Segoe UI"/>
              </a:rPr>
              <a:t>BTL11 · 08 — GMM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293B4C3-6FDC-4127-AA66-DA4EED88704E}"/>
              </a:ext>
            </a:extLst>
          </p:cNvPr>
          <p:cNvSpPr txBox="1"/>
          <p:nvPr/>
        </p:nvSpPr>
        <p:spPr>
          <a:xfrm>
            <a:off x="609600" y="590550"/>
            <a:ext cx="10972800" cy="48768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0F172A"/>
                </a:solidFill>
                <a:latin typeface="Segoe UI"/>
                <a:ea typeface="Segoe UI"/>
              </a:rPr>
              <a:t>GMM &amp; BIC: BIC không phải tiêu chí duy nhất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8649FF0-6594-4744-BA54-9737D561F92E}"/>
              </a:ext>
            </a:extLst>
          </p:cNvPr>
          <p:cNvSpPr txBox="1"/>
          <p:nvPr/>
        </p:nvSpPr>
        <p:spPr>
          <a:xfrm>
            <a:off x="609600" y="1104900"/>
            <a:ext cx="100012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475569"/>
                </a:solidFill>
                <a:latin typeface="Segoe UI"/>
                <a:ea typeface="Segoe UI"/>
              </a:rPr>
              <a:t>BIC giảm tới biên K=12 nhưng hard-label separation giảm theo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F8D1B57-31EC-4EBF-8971-4C1E6833D14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" y="1695450"/>
            <a:ext cx="7429500" cy="2847975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969FEF2-66AF-4228-9C3E-F8E6BB453501}"/>
              </a:ext>
            </a:extLst>
          </p:cNvPr>
          <p:cNvSpPr/>
          <p:nvPr/>
        </p:nvSpPr>
        <p:spPr>
          <a:xfrm>
            <a:off x="8267700" y="1695450"/>
            <a:ext cx="3314700" cy="28479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1C24426-564B-4E65-A90E-4D1866AF50D1}"/>
              </a:ext>
            </a:extLst>
          </p:cNvPr>
          <p:cNvSpPr txBox="1"/>
          <p:nvPr/>
        </p:nvSpPr>
        <p:spPr>
          <a:xfrm>
            <a:off x="8477250" y="1847850"/>
            <a:ext cx="2895600" cy="24384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  <a:ea typeface="Segoe UI"/>
              </a:rPr>
              <a:t>Đọc BIC đúng cách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C425CCE-2EAB-498A-829C-9565A76A0B3F}"/>
              </a:ext>
            </a:extLst>
          </p:cNvPr>
          <p:cNvSpPr txBox="1"/>
          <p:nvPr/>
        </p:nvSpPr>
        <p:spPr>
          <a:xfrm>
            <a:off x="8477250" y="2152650"/>
            <a:ext cx="2895600" cy="2228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  <a:latin typeface="Segoe UI"/>
                <a:ea typeface="Segoe UI"/>
              </a:rPr>
              <a:t>BIC thấp nhất: K=12 full = 678.842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  <a:latin typeface="Segoe UI"/>
                <a:ea typeface="Segoe UI"/>
              </a:rPr>
              <a:t>Silhouette hard-label K=12 = −0,0234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  <a:latin typeface="Segoe UI"/>
                <a:ea typeface="Segoe UI"/>
              </a:rPr>
              <a:t>K=4 full: BIC 853.058 · silhouette 0,0547 · confidence 0,9578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  <a:latin typeface="Segoe UI"/>
                <a:ea typeface="Segoe UI"/>
              </a:rPr>
              <a:t>0,33% eval có confidence &lt; 0,5</a:t>
            </a:r>
          </a:p>
          <a:p>
            <a:pPr algn="l">
              <a:lnSpc>
                <a:spcPct val="118000"/>
              </a:lnSpc>
            </a:pPr>
            <a:r>
              <a:rPr sz="1050" b="1">
                <a:solidFill>
                  <a:srgbClr val="0F766E"/>
                </a:solidFill>
                <a:latin typeface="Segoe UI"/>
                <a:ea typeface="Segoe UI"/>
              </a:rPr>
              <a:t>Chỉ so BIC trong cùng representation/cohort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6D9DC7A-BB19-4AFD-BF29-40B519965DA0}"/>
              </a:ext>
            </a:extLst>
          </p:cNvPr>
          <p:cNvSpPr/>
          <p:nvPr/>
        </p:nvSpPr>
        <p:spPr>
          <a:xfrm>
            <a:off x="609600" y="4762500"/>
            <a:ext cx="10972800" cy="876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79A23D1-4744-4E48-945A-240FB5B84F56}"/>
              </a:ext>
            </a:extLst>
          </p:cNvPr>
          <p:cNvSpPr txBox="1"/>
          <p:nvPr/>
        </p:nvSpPr>
        <p:spPr>
          <a:xfrm>
            <a:off x="876300" y="4914900"/>
            <a:ext cx="104394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</a:rPr>
              <a:t>BIC thấp ≠ cụm tốt. </a:t>
            </a:r>
            <a:r>
              <a:rPr sz="1200">
                <a:solidFill>
                  <a:srgbClr val="334155"/>
                </a:solidFill>
                <a:latin typeface="Segoe UI"/>
                <a:ea typeface="Segoe UI"/>
              </a:rPr>
              <a:t>BIC/AIC đo fit density có phạt complexity; GMM full K=4 (F9/Standard) đạt 0,0547, K-Means robust K=2 (F9/Robust) đạt 0,5956 — không so trực tiếp xuyên space.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615C7DB-AA46-4C00-B7C3-9906F9056767}"/>
              </a:ext>
            </a:extLst>
          </p:cNvPr>
          <p:cNvSpPr txBox="1"/>
          <p:nvPr/>
        </p:nvSpPr>
        <p:spPr>
          <a:xfrm>
            <a:off x="609600" y="5753100"/>
            <a:ext cx="109728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GMM full K=4: mean posterior confidence 0,9578 · normalized entropy 0,0802 · hữu ích cho track biên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954ABD84-FDBF-44A8-9BDB-68702748E22E}"/>
              </a:ext>
            </a:extLst>
          </p:cNvPr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BD5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6CE91FF-1208-4907-8841-A51EFF5AECBD}"/>
              </a:ext>
            </a:extLst>
          </p:cNvPr>
          <p:cNvSpPr txBox="1"/>
          <p:nvPr/>
        </p:nvSpPr>
        <p:spPr>
          <a:xfrm>
            <a:off x="609600" y="6534150"/>
            <a:ext cx="9048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Nguồn: artifacts/comparisons/baseline_f9_standard/20261027T032015Z/gmm_bic_aic.png · REPORT_TABLES.md §3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C76EAED-F7FD-4012-9D3A-7B7DD8039E10}"/>
              </a:ext>
            </a:extLst>
          </p:cNvPr>
          <p:cNvSpPr txBox="1"/>
          <p:nvPr/>
        </p:nvSpPr>
        <p:spPr>
          <a:xfrm>
            <a:off x="11201400" y="6534150"/>
            <a:ext cx="381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8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14C7859-C73E-421D-A750-90EAB62F4C51}"/>
              </a:ext>
            </a:extLst>
          </p:cNvPr>
          <p:cNvSpPr txBox="1"/>
          <p:nvPr/>
        </p:nvSpPr>
        <p:spPr>
          <a:xfrm>
            <a:off x="609600" y="3429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F766E"/>
                </a:solidFill>
                <a:latin typeface="Segoe UI"/>
                <a:ea typeface="Segoe UI"/>
              </a:rPr>
              <a:t>BTL11 · 09 — ABLATIONS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7C9E927-E339-4997-9017-52425801042B}"/>
              </a:ext>
            </a:extLst>
          </p:cNvPr>
          <p:cNvSpPr txBox="1"/>
          <p:nvPr/>
        </p:nvSpPr>
        <p:spPr>
          <a:xfrm>
            <a:off x="609600" y="590550"/>
            <a:ext cx="10972800" cy="48768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0F172A"/>
                </a:solidFill>
                <a:latin typeface="Segoe UI"/>
                <a:ea typeface="Segoe UI"/>
              </a:rPr>
              <a:t>Ablations: scaler, feature set, PCA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666162F-FEDB-4272-B6BF-3C6D791FB944}"/>
              </a:ext>
            </a:extLst>
          </p:cNvPr>
          <p:cNvSpPr txBox="1"/>
          <p:nvPr/>
        </p:nvSpPr>
        <p:spPr>
          <a:xfrm>
            <a:off x="609600" y="1104900"/>
            <a:ext cx="100012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475569"/>
                </a:solidFill>
                <a:latin typeface="Segoe UI"/>
                <a:ea typeface="Segoe UI"/>
              </a:rPr>
              <a:t>24 dòng ablation · 15 fit mới + 9 tái dùng baseline · 0 lỗi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B83B713-A16D-4099-A3A4-BFE407898E90}"/>
              </a:ext>
            </a:extLst>
          </p:cNvPr>
          <p:cNvSpPr/>
          <p:nvPr/>
        </p:nvSpPr>
        <p:spPr>
          <a:xfrm>
            <a:off x="609600" y="1619250"/>
            <a:ext cx="3505200" cy="285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E71F71E-087E-45FC-87F6-57BF73D205E4}"/>
              </a:ext>
            </a:extLst>
          </p:cNvPr>
          <p:cNvSpPr txBox="1"/>
          <p:nvPr/>
        </p:nvSpPr>
        <p:spPr>
          <a:xfrm>
            <a:off x="838200" y="179070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0F766E"/>
                </a:solidFill>
                <a:latin typeface="Segoe UI"/>
                <a:ea typeface="Segoe UI"/>
              </a:rPr>
              <a:t>Scaler · K=2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5EACFB9-D608-491F-B792-653C50703CF2}"/>
              </a:ext>
            </a:extLst>
          </p:cNvPr>
          <p:cNvSpPr txBox="1"/>
          <p:nvPr/>
        </p:nvSpPr>
        <p:spPr>
          <a:xfrm>
            <a:off x="838200" y="2133600"/>
            <a:ext cx="3048000" cy="1809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Segoe UI"/>
                <a:ea typeface="Segoe UI"/>
              </a:rPr>
              <a:t>Robust  0,5956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>
                <a:solidFill>
                  <a:srgbClr val="334155"/>
                </a:solidFill>
                <a:latin typeface="Segoe UI"/>
                <a:ea typeface="Segoe UI"/>
              </a:rPr>
              <a:t>Standard  0,2576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>
                <a:solidFill>
                  <a:srgbClr val="334155"/>
                </a:solidFill>
                <a:latin typeface="Segoe UI"/>
                <a:ea typeface="Segoe UI"/>
              </a:rPr>
              <a:t>None (E00)  0,5167</a:t>
            </a:r>
          </a:p>
          <a:p>
            <a:pPr algn="l">
              <a:lnSpc>
                <a:spcPct val="118000"/>
              </a:lnSpc>
            </a:pPr>
            <a:r>
              <a:rPr sz="1050">
                <a:solidFill>
                  <a:srgbClr val="475569"/>
                </a:solidFill>
                <a:latin typeface="Segoe UI"/>
                <a:ea typeface="Segoe UI"/>
              </a:rPr>
              <a:t>Robust giữ DB 0,6505 so với Standard 1,5848; E00 bị tempo/loudness chi phối.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36D2EA7-9421-46D6-9197-A241228B52C4}"/>
              </a:ext>
            </a:extLst>
          </p:cNvPr>
          <p:cNvSpPr/>
          <p:nvPr/>
        </p:nvSpPr>
        <p:spPr>
          <a:xfrm>
            <a:off x="4343400" y="1619250"/>
            <a:ext cx="35052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60521F5-BE00-4046-A3A0-E2E704D818BB}"/>
              </a:ext>
            </a:extLst>
          </p:cNvPr>
          <p:cNvSpPr txBox="1"/>
          <p:nvPr/>
        </p:nvSpPr>
        <p:spPr>
          <a:xfrm>
            <a:off x="4572000" y="179070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  <a:ea typeface="Segoe UI"/>
              </a:rPr>
              <a:t>Feature set · K=2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6EA9386-A45B-494C-912B-7683AF1F3839}"/>
              </a:ext>
            </a:extLst>
          </p:cNvPr>
          <p:cNvSpPr txBox="1"/>
          <p:nvPr/>
        </p:nvSpPr>
        <p:spPr>
          <a:xfrm>
            <a:off x="4572000" y="2133600"/>
            <a:ext cx="3048000" cy="1809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Segoe UI"/>
                <a:ea typeface="Segoe UI"/>
              </a:rPr>
              <a:t>F9  0,2576  ·  DB 1,5848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>
                <a:solidFill>
                  <a:srgbClr val="334155"/>
                </a:solidFill>
                <a:latin typeface="Segoe UI"/>
                <a:ea typeface="Segoe UI"/>
              </a:rPr>
              <a:t>F5  0,2980  ·  DB 1,3700</a:t>
            </a:r>
          </a:p>
          <a:p>
            <a:pPr algn="l">
              <a:lnSpc>
                <a:spcPct val="118000"/>
              </a:lnSpc>
            </a:pPr>
            <a:r>
              <a:rPr sz="1050">
                <a:solidFill>
                  <a:srgbClr val="475569"/>
                </a:solidFill>
                <a:latin typeface="Segoe UI"/>
                <a:ea typeface="Segoe UI"/>
              </a:rPr>
              <a:t>F5 compact hơn nhưng mất loudness, speechiness, instrumentalness, liveness — các feature tạo persona instrumental/speech. F9 được giữ làm primary.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3C159ACE-831E-4DFC-83B5-8EE635B60881}"/>
              </a:ext>
            </a:extLst>
          </p:cNvPr>
          <p:cNvSpPr/>
          <p:nvPr/>
        </p:nvSpPr>
        <p:spPr>
          <a:xfrm>
            <a:off x="8077200" y="1619250"/>
            <a:ext cx="35052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E2DC9CF-4589-4F8B-873D-D4A98C907EA3}"/>
              </a:ext>
            </a:extLst>
          </p:cNvPr>
          <p:cNvSpPr txBox="1"/>
          <p:nvPr/>
        </p:nvSpPr>
        <p:spPr>
          <a:xfrm>
            <a:off x="8305800" y="179070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  <a:ea typeface="Segoe UI"/>
              </a:rPr>
              <a:t>PCA · K=6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88357D3-4031-4D92-9071-FF17E1C907B0}"/>
              </a:ext>
            </a:extLst>
          </p:cNvPr>
          <p:cNvSpPr txBox="1"/>
          <p:nvPr/>
        </p:nvSpPr>
        <p:spPr>
          <a:xfrm>
            <a:off x="8305800" y="2133600"/>
            <a:ext cx="3048000" cy="1809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Segoe UI"/>
                <a:ea typeface="Segoe UI"/>
              </a:rPr>
              <a:t>no PCA  0,1896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>
                <a:solidFill>
                  <a:srgbClr val="334155"/>
                </a:solidFill>
                <a:latin typeface="Segoe UI"/>
                <a:ea typeface="Segoe UI"/>
              </a:rPr>
              <a:t>PCA90 (7 comp)  0,2033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>
                <a:solidFill>
                  <a:srgbClr val="334155"/>
                </a:solidFill>
                <a:latin typeface="Segoe UI"/>
                <a:ea typeface="Segoe UI"/>
              </a:rPr>
              <a:t>PCA95 (8 comp)  0,1938</a:t>
            </a:r>
          </a:p>
          <a:p>
            <a:pPr algn="l">
              <a:lnSpc>
                <a:spcPct val="118000"/>
              </a:lnSpc>
            </a:pPr>
            <a:r>
              <a:rPr sz="1050">
                <a:solidFill>
                  <a:srgbClr val="475569"/>
                </a:solidFill>
                <a:latin typeface="Segoe UI"/>
                <a:ea typeface="Segoe UI"/>
              </a:rPr>
              <a:t>PCA90 cải thiện nhẹ nhưng thêm representation và loadings gián tiếp; no-PCA được giữ cho final.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2C60ECDC-069E-458C-8E63-BBD047B86C1C}"/>
              </a:ext>
            </a:extLst>
          </p:cNvPr>
          <p:cNvSpPr/>
          <p:nvPr/>
        </p:nvSpPr>
        <p:spPr>
          <a:xfrm>
            <a:off x="609600" y="4762500"/>
            <a:ext cx="10972800" cy="876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35DBF27-6E5E-40D9-855A-41A07C1AFDB4}"/>
              </a:ext>
            </a:extLst>
          </p:cNvPr>
          <p:cNvSpPr txBox="1"/>
          <p:nvPr/>
        </p:nvSpPr>
        <p:spPr>
          <a:xfrm>
            <a:off x="876300" y="4914900"/>
            <a:ext cx="104394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</a:rPr>
              <a:t>Không xếp hạng tuyệt đối xuyên space. </a:t>
            </a:r>
            <a:r>
              <a:rPr sz="1200">
                <a:solidFill>
                  <a:srgbClr val="334155"/>
                </a:solidFill>
                <a:latin typeface="Segoe UI"/>
                <a:ea typeface="Segoe UI"/>
              </a:rPr>
              <a:t>Silhouette/DB/CH ở scaler, feature set và PCA space khác nhau không cùng thang đo; BIC chỉ so trong cùng representation/cohort.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98FF99C-4AD1-4FBE-81F3-97122A79EBBF}"/>
              </a:ext>
            </a:extLst>
          </p:cNvPr>
          <p:cNvSpPr txBox="1"/>
          <p:nvPr/>
        </p:nvSpPr>
        <p:spPr>
          <a:xfrm>
            <a:off x="609600" y="5753100"/>
            <a:ext cx="109728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Artifact: artifacts/ablations/{scaler,feature_set,pca}/20261027T0321*/ · metrics_by_variant.png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B8244617-28A6-42AE-95A8-FE52DFB69516}"/>
              </a:ext>
            </a:extLst>
          </p:cNvPr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BD5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7C6327C-85A6-4FF5-A784-540B07C6683B}"/>
              </a:ext>
            </a:extLst>
          </p:cNvPr>
          <p:cNvSpPr txBox="1"/>
          <p:nvPr/>
        </p:nvSpPr>
        <p:spPr>
          <a:xfrm>
            <a:off x="609600" y="6534150"/>
            <a:ext cx="9048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Nguồn: artifacts/final-report-tables/ablation_*.csv · REPORT_TABLES.md §4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293DB47-44E3-479A-B2BC-657AD9214023}"/>
              </a:ext>
            </a:extLst>
          </p:cNvPr>
          <p:cNvSpPr txBox="1"/>
          <p:nvPr/>
        </p:nvSpPr>
        <p:spPr>
          <a:xfrm>
            <a:off x="11201400" y="6534150"/>
            <a:ext cx="381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9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12EE900-5008-4EDF-AFE9-6644EB2AACAF}"/>
              </a:ext>
            </a:extLst>
          </p:cNvPr>
          <p:cNvSpPr txBox="1"/>
          <p:nvPr/>
        </p:nvSpPr>
        <p:spPr>
          <a:xfrm>
            <a:off x="609600" y="3429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F766E"/>
                </a:solidFill>
                <a:latin typeface="Segoe UI"/>
                <a:ea typeface="Segoe UI"/>
              </a:rPr>
              <a:t>BTL11 · 10 — ĐỘ ỔN ĐỊNH &amp; HOLDOUT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C9B31CB-313D-4FDA-BF52-200190829687}"/>
              </a:ext>
            </a:extLst>
          </p:cNvPr>
          <p:cNvSpPr txBox="1"/>
          <p:nvPr/>
        </p:nvSpPr>
        <p:spPr>
          <a:xfrm>
            <a:off x="609600" y="590550"/>
            <a:ext cx="10972800" cy="48768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0F172A"/>
                </a:solidFill>
                <a:latin typeface="Segoe UI"/>
                <a:ea typeface="Segoe UI"/>
              </a:rPr>
              <a:t>Stability &amp; one-time holdout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5246771-1793-4583-AD10-90BE9FEE2FFE}"/>
              </a:ext>
            </a:extLst>
          </p:cNvPr>
          <p:cNvSpPr txBox="1"/>
          <p:nvPr/>
        </p:nvSpPr>
        <p:spPr>
          <a:xfrm>
            <a:off x="609600" y="1104900"/>
            <a:ext cx="100012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475569"/>
                </a:solidFill>
                <a:latin typeface="Segoe UI"/>
                <a:ea typeface="Segoe UI"/>
              </a:rPr>
              <a:t>Cùng reference IDs, cùng metric; holdout chỉ mở sau khi model đã khóa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4B5B7FC-EB30-4841-A8E3-D6B8FC17A1B0}"/>
              </a:ext>
            </a:extLst>
          </p:cNvPr>
          <p:cNvSpPr/>
          <p:nvPr/>
        </p:nvSpPr>
        <p:spPr>
          <a:xfrm>
            <a:off x="609600" y="1619250"/>
            <a:ext cx="53340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A2D0925-AAAF-4784-AE03-3EFEE996F9B8}"/>
              </a:ext>
            </a:extLst>
          </p:cNvPr>
          <p:cNvSpPr txBox="1"/>
          <p:nvPr/>
        </p:nvSpPr>
        <p:spPr>
          <a:xfrm>
            <a:off x="838200" y="1790700"/>
            <a:ext cx="4762500" cy="25908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0F172A"/>
                </a:solidFill>
                <a:latin typeface="Segoe UI"/>
                <a:ea typeface="Segoe UI"/>
              </a:rPr>
              <a:t>Stability — 3.000 reference IDs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B3A766C-A743-4980-8AE8-A22F4CEB8C98}"/>
              </a:ext>
            </a:extLst>
          </p:cNvPr>
          <p:cNvSpPr txBox="1"/>
          <p:nvPr/>
        </p:nvSpPr>
        <p:spPr>
          <a:xfrm>
            <a:off x="838200" y="2171700"/>
            <a:ext cx="13716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Seed refits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11659E9-FCFE-4881-B2CE-57F897EE905F}"/>
              </a:ext>
            </a:extLst>
          </p:cNvPr>
          <p:cNvSpPr txBox="1"/>
          <p:nvPr/>
        </p:nvSpPr>
        <p:spPr>
          <a:xfrm>
            <a:off x="838200" y="2343150"/>
            <a:ext cx="1371600" cy="41910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0F766E"/>
                </a:solidFill>
                <a:latin typeface="Segoe UI"/>
                <a:ea typeface="Segoe UI"/>
              </a:rPr>
              <a:t>0,99969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98303E9-374B-4768-9032-E4A9559916E7}"/>
              </a:ext>
            </a:extLst>
          </p:cNvPr>
          <p:cNvSpPr txBox="1"/>
          <p:nvPr/>
        </p:nvSpPr>
        <p:spPr>
          <a:xfrm>
            <a:off x="2266950" y="2171700"/>
            <a:ext cx="13716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Bootstrap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083D680-F7B1-4490-8E3D-011D045EA95C}"/>
              </a:ext>
            </a:extLst>
          </p:cNvPr>
          <p:cNvSpPr txBox="1"/>
          <p:nvPr/>
        </p:nvSpPr>
        <p:spPr>
          <a:xfrm>
            <a:off x="2266950" y="2343150"/>
            <a:ext cx="1371600" cy="41910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0F766E"/>
                </a:solidFill>
                <a:latin typeface="Segoe UI"/>
                <a:ea typeface="Segoe UI"/>
              </a:rPr>
              <a:t>0,99907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F556AF0-D1BE-48DA-9F43-5B23E64FFC98}"/>
              </a:ext>
            </a:extLst>
          </p:cNvPr>
          <p:cNvSpPr txBox="1"/>
          <p:nvPr/>
        </p:nvSpPr>
        <p:spPr>
          <a:xfrm>
            <a:off x="3695700" y="2171700"/>
            <a:ext cx="13716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Pairwise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7259AF3-86A9-4909-B076-A017D1E2E718}"/>
              </a:ext>
            </a:extLst>
          </p:cNvPr>
          <p:cNvSpPr txBox="1"/>
          <p:nvPr/>
        </p:nvSpPr>
        <p:spPr>
          <a:xfrm>
            <a:off x="3695700" y="2343150"/>
            <a:ext cx="1371600" cy="41910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0F766E"/>
                </a:solidFill>
                <a:latin typeface="Segoe UI"/>
                <a:ea typeface="Segoe UI"/>
              </a:rPr>
              <a:t>0,99918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800889C-FA43-4B72-BE76-8D0B209B3825}"/>
              </a:ext>
            </a:extLst>
          </p:cNvPr>
          <p:cNvSpPr txBox="1"/>
          <p:nvPr/>
        </p:nvSpPr>
        <p:spPr>
          <a:xfrm>
            <a:off x="838200" y="2914650"/>
            <a:ext cx="47625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100">
                <a:solidFill>
                  <a:srgbClr val="475569"/>
                </a:solidFill>
                <a:latin typeface="Segoe UI"/>
                <a:ea typeface="Segoe UI"/>
              </a:rPr>
              <a:t>5 seed + 5 bootstrap · 60/60 refits thành công · ARI bất biến hoán vị nhãn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17A9D26-5987-488F-A158-FA5D02CBBF72}"/>
              </a:ext>
            </a:extLst>
          </p:cNvPr>
          <p:cNvSpPr txBox="1"/>
          <p:nvPr/>
        </p:nvSpPr>
        <p:spPr>
          <a:xfrm>
            <a:off x="838200" y="3562350"/>
            <a:ext cx="47625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050">
                <a:solidFill>
                  <a:srgbClr val="64748B"/>
                </a:solidFill>
                <a:latin typeface="Segoe UI"/>
                <a:ea typeface="Segoe UI"/>
              </a:rPr>
              <a:t>Finalist K-Means robust K=2 gần như bất biến qua seed và bootstrap; K=6 standard thấp hơn rõ rệt (0,9164 bootstrap).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6C1130F0-E35F-43B1-A8D5-130B675C3591}"/>
              </a:ext>
            </a:extLst>
          </p:cNvPr>
          <p:cNvSpPr/>
          <p:nvPr/>
        </p:nvSpPr>
        <p:spPr>
          <a:xfrm>
            <a:off x="6248400" y="1619250"/>
            <a:ext cx="5334000" cy="31432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18F656-6743-4C64-82C8-63A6CD0C7B0D}"/>
              </a:ext>
            </a:extLst>
          </p:cNvPr>
          <p:cNvSpPr txBox="1"/>
          <p:nvPr/>
        </p:nvSpPr>
        <p:spPr>
          <a:xfrm>
            <a:off x="6477000" y="1790700"/>
            <a:ext cx="4762500" cy="25908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0F172A"/>
                </a:solidFill>
                <a:latin typeface="Segoe UI"/>
                <a:ea typeface="Segoe UI"/>
              </a:rPr>
              <a:t>One-time holdout — không refit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A7641A1-A03B-4680-B1B3-A61708DE1D7D}"/>
              </a:ext>
            </a:extLst>
          </p:cNvPr>
          <p:cNvSpPr txBox="1"/>
          <p:nvPr/>
        </p:nvSpPr>
        <p:spPr>
          <a:xfrm>
            <a:off x="6477000" y="2152650"/>
            <a:ext cx="1428750" cy="152400"/>
          </a:xfrm>
        </p:spPr>
        <p:txBody>
          <a:bodyPr wrap="square" rtlCol="0" lIns="0" tIns="0" rIns="0" bIns="0" anchor="t"/>
          <a:lstStyle/>
          <a:p>
            <a:pPr algn="l"/>
            <a:r>
              <a:rPr sz="850" b="1">
                <a:solidFill>
                  <a:srgbClr val="94A3B8"/>
                </a:solidFill>
                <a:latin typeface="Segoe UI"/>
                <a:ea typeface="Segoe UI"/>
              </a:rPr>
              <a:t>METRIC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C091F0A-D892-4D0B-A4FC-17F9C3937F6D}"/>
              </a:ext>
            </a:extLst>
          </p:cNvPr>
          <p:cNvSpPr txBox="1"/>
          <p:nvPr/>
        </p:nvSpPr>
        <p:spPr>
          <a:xfrm>
            <a:off x="7981950" y="2152650"/>
            <a:ext cx="952500" cy="152400"/>
          </a:xfrm>
        </p:spPr>
        <p:txBody>
          <a:bodyPr wrap="square" rtlCol="0" lIns="0" tIns="0" rIns="0" bIns="0" anchor="t"/>
          <a:lstStyle/>
          <a:p>
            <a:pPr algn="r"/>
            <a:r>
              <a:rPr sz="850" b="1">
                <a:solidFill>
                  <a:srgbClr val="94A3B8"/>
                </a:solidFill>
                <a:latin typeface="Segoe UI"/>
                <a:ea typeface="Segoe UI"/>
              </a:rPr>
              <a:t>HOLDOUT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B347B7E-89F2-40D8-8D2F-33E68ACF9278}"/>
              </a:ext>
            </a:extLst>
          </p:cNvPr>
          <p:cNvSpPr txBox="1"/>
          <p:nvPr/>
        </p:nvSpPr>
        <p:spPr>
          <a:xfrm>
            <a:off x="9029700" y="2152650"/>
            <a:ext cx="952500" cy="152400"/>
          </a:xfrm>
        </p:spPr>
        <p:txBody>
          <a:bodyPr wrap="square" rtlCol="0" lIns="0" tIns="0" rIns="0" bIns="0" anchor="t"/>
          <a:lstStyle/>
          <a:p>
            <a:pPr algn="r"/>
            <a:r>
              <a:rPr sz="850" b="1">
                <a:solidFill>
                  <a:srgbClr val="94A3B8"/>
                </a:solidFill>
                <a:latin typeface="Segoe UI"/>
                <a:ea typeface="Segoe UI"/>
              </a:rPr>
              <a:t>DEV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0FB098B-DA3A-4E18-B419-EF25D8D5BA96}"/>
              </a:ext>
            </a:extLst>
          </p:cNvPr>
          <p:cNvSpPr txBox="1"/>
          <p:nvPr/>
        </p:nvSpPr>
        <p:spPr>
          <a:xfrm>
            <a:off x="10077450" y="2152650"/>
            <a:ext cx="1238250" cy="152400"/>
          </a:xfrm>
        </p:spPr>
        <p:txBody>
          <a:bodyPr wrap="square" rtlCol="0" lIns="0" tIns="0" rIns="0" bIns="0" anchor="t"/>
          <a:lstStyle/>
          <a:p>
            <a:pPr algn="r"/>
            <a:r>
              <a:rPr sz="850" b="1">
                <a:solidFill>
                  <a:srgbClr val="94A3B8"/>
                </a:solidFill>
                <a:latin typeface="Segoe UI"/>
                <a:ea typeface="Segoe UI"/>
              </a:rPr>
              <a:t>Δ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D07A78D-D1D8-462F-80FA-C0D08BB17821}"/>
              </a:ext>
            </a:extLst>
          </p:cNvPr>
          <p:cNvSpPr txBox="1"/>
          <p:nvPr/>
        </p:nvSpPr>
        <p:spPr>
          <a:xfrm>
            <a:off x="6477000" y="2400300"/>
            <a:ext cx="14287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334155"/>
                </a:solidFill>
                <a:latin typeface="Segoe UI"/>
                <a:ea typeface="Segoe UI"/>
              </a:rPr>
              <a:t>Silhouette ↑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075AC25-8851-45DC-8A19-0479360FD9EC}"/>
              </a:ext>
            </a:extLst>
          </p:cNvPr>
          <p:cNvSpPr txBox="1"/>
          <p:nvPr/>
        </p:nvSpPr>
        <p:spPr>
          <a:xfrm>
            <a:off x="7981950" y="2381250"/>
            <a:ext cx="952500" cy="243840"/>
          </a:xfrm>
        </p:spPr>
        <p:txBody>
          <a:bodyPr wrap="square" rtlCol="0" lIns="0" tIns="0" rIns="0" bIns="0" anchor="t"/>
          <a:lstStyle/>
          <a:p>
            <a:pPr algn="r"/>
            <a:r>
              <a:rPr sz="1600" b="1">
                <a:solidFill>
                  <a:srgbClr val="0F766E"/>
                </a:solidFill>
                <a:latin typeface="Segoe UI"/>
                <a:ea typeface="Segoe UI"/>
              </a:rPr>
              <a:t>0,5902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EC881B3-21EA-41E9-A885-7ECE8B7EEF8E}"/>
              </a:ext>
            </a:extLst>
          </p:cNvPr>
          <p:cNvSpPr txBox="1"/>
          <p:nvPr/>
        </p:nvSpPr>
        <p:spPr>
          <a:xfrm>
            <a:off x="9029700" y="2381250"/>
            <a:ext cx="952500" cy="243840"/>
          </a:xfrm>
        </p:spPr>
        <p:txBody>
          <a:bodyPr wrap="square" rtlCol="0" lIns="0" tIns="0" rIns="0" bIns="0" anchor="t"/>
          <a:lstStyle/>
          <a:p>
            <a:pPr algn="r"/>
            <a:r>
              <a:rPr sz="1600">
                <a:solidFill>
                  <a:srgbClr val="64748B"/>
                </a:solidFill>
                <a:latin typeface="Segoe UI"/>
                <a:ea typeface="Segoe UI"/>
              </a:rPr>
              <a:t>0,5956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3F9E4B5-F2A8-4C6F-8A73-41B904B598DF}"/>
              </a:ext>
            </a:extLst>
          </p:cNvPr>
          <p:cNvSpPr txBox="1"/>
          <p:nvPr/>
        </p:nvSpPr>
        <p:spPr>
          <a:xfrm>
            <a:off x="10077450" y="2400300"/>
            <a:ext cx="123825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334155"/>
                </a:solidFill>
                <a:latin typeface="Segoe UI"/>
                <a:ea typeface="Segoe UI"/>
              </a:rPr>
              <a:t>−0,0054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2127365-0F03-4E36-85EE-A2362318C447}"/>
              </a:ext>
            </a:extLst>
          </p:cNvPr>
          <p:cNvSpPr txBox="1"/>
          <p:nvPr/>
        </p:nvSpPr>
        <p:spPr>
          <a:xfrm>
            <a:off x="6477000" y="2857500"/>
            <a:ext cx="14287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334155"/>
                </a:solidFill>
                <a:latin typeface="Segoe UI"/>
                <a:ea typeface="Segoe UI"/>
              </a:rPr>
              <a:t>Davies–Bouldin ↓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499D8C3F-7FF4-4C37-B8B7-A14AE0E340EA}"/>
              </a:ext>
            </a:extLst>
          </p:cNvPr>
          <p:cNvSpPr txBox="1"/>
          <p:nvPr/>
        </p:nvSpPr>
        <p:spPr>
          <a:xfrm>
            <a:off x="7981950" y="2838450"/>
            <a:ext cx="952500" cy="243840"/>
          </a:xfrm>
        </p:spPr>
        <p:txBody>
          <a:bodyPr wrap="square" rtlCol="0" lIns="0" tIns="0" rIns="0" bIns="0" anchor="t"/>
          <a:lstStyle/>
          <a:p>
            <a:pPr algn="r"/>
            <a:r>
              <a:rPr sz="1600" b="1">
                <a:solidFill>
                  <a:srgbClr val="0F766E"/>
                </a:solidFill>
                <a:latin typeface="Segoe UI"/>
                <a:ea typeface="Segoe UI"/>
              </a:rPr>
              <a:t>0,6593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46594743-68D5-4132-9184-CD7F572F12A1}"/>
              </a:ext>
            </a:extLst>
          </p:cNvPr>
          <p:cNvSpPr txBox="1"/>
          <p:nvPr/>
        </p:nvSpPr>
        <p:spPr>
          <a:xfrm>
            <a:off x="9029700" y="2838450"/>
            <a:ext cx="952500" cy="243840"/>
          </a:xfrm>
        </p:spPr>
        <p:txBody>
          <a:bodyPr wrap="square" rtlCol="0" lIns="0" tIns="0" rIns="0" bIns="0" anchor="t"/>
          <a:lstStyle/>
          <a:p>
            <a:pPr algn="r"/>
            <a:r>
              <a:rPr sz="1600">
                <a:solidFill>
                  <a:srgbClr val="64748B"/>
                </a:solidFill>
                <a:latin typeface="Segoe UI"/>
                <a:ea typeface="Segoe UI"/>
              </a:rPr>
              <a:t>0,6505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B63C6E74-F235-414A-8991-828041907E44}"/>
              </a:ext>
            </a:extLst>
          </p:cNvPr>
          <p:cNvSpPr txBox="1"/>
          <p:nvPr/>
        </p:nvSpPr>
        <p:spPr>
          <a:xfrm>
            <a:off x="10077450" y="2857500"/>
            <a:ext cx="123825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334155"/>
                </a:solidFill>
                <a:latin typeface="Segoe UI"/>
                <a:ea typeface="Segoe UI"/>
              </a:rPr>
              <a:t>+0,0088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6B993F28-E2C2-47AB-BE76-9DA7C1F783B9}"/>
              </a:ext>
            </a:extLst>
          </p:cNvPr>
          <p:cNvSpPr txBox="1"/>
          <p:nvPr/>
        </p:nvSpPr>
        <p:spPr>
          <a:xfrm>
            <a:off x="6477000" y="3314700"/>
            <a:ext cx="14287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334155"/>
                </a:solidFill>
                <a:latin typeface="Segoe UI"/>
                <a:ea typeface="Segoe UI"/>
              </a:rPr>
              <a:t>Calinski–Harabasz ↑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585A4AD4-E1A9-4466-8767-F82E41E9976D}"/>
              </a:ext>
            </a:extLst>
          </p:cNvPr>
          <p:cNvSpPr txBox="1"/>
          <p:nvPr/>
        </p:nvSpPr>
        <p:spPr>
          <a:xfrm>
            <a:off x="7981950" y="3295650"/>
            <a:ext cx="952500" cy="243840"/>
          </a:xfrm>
        </p:spPr>
        <p:txBody>
          <a:bodyPr wrap="square" rtlCol="0" lIns="0" tIns="0" rIns="0" bIns="0" anchor="t"/>
          <a:lstStyle/>
          <a:p>
            <a:pPr algn="r"/>
            <a:r>
              <a:rPr sz="1600" b="1">
                <a:solidFill>
                  <a:srgbClr val="0F766E"/>
                </a:solidFill>
                <a:latin typeface="Segoe UI"/>
                <a:ea typeface="Segoe UI"/>
              </a:rPr>
              <a:t>2964,07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797CE5A-1494-4D65-B03F-8DB09A369DF1}"/>
              </a:ext>
            </a:extLst>
          </p:cNvPr>
          <p:cNvSpPr txBox="1"/>
          <p:nvPr/>
        </p:nvSpPr>
        <p:spPr>
          <a:xfrm>
            <a:off x="9029700" y="3295650"/>
            <a:ext cx="952500" cy="243840"/>
          </a:xfrm>
        </p:spPr>
        <p:txBody>
          <a:bodyPr wrap="square" rtlCol="0" lIns="0" tIns="0" rIns="0" bIns="0" anchor="t"/>
          <a:lstStyle/>
          <a:p>
            <a:pPr algn="r"/>
            <a:r>
              <a:rPr sz="1600">
                <a:solidFill>
                  <a:srgbClr val="64748B"/>
                </a:solidFill>
                <a:latin typeface="Segoe UI"/>
                <a:ea typeface="Segoe UI"/>
              </a:rPr>
              <a:t>3240,62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E492AEA0-74E4-4DD1-A528-185D95FC4583}"/>
              </a:ext>
            </a:extLst>
          </p:cNvPr>
          <p:cNvSpPr txBox="1"/>
          <p:nvPr/>
        </p:nvSpPr>
        <p:spPr>
          <a:xfrm>
            <a:off x="10077450" y="3314700"/>
            <a:ext cx="123825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334155"/>
                </a:solidFill>
                <a:latin typeface="Segoe UI"/>
                <a:ea typeface="Segoe UI"/>
              </a:rPr>
              <a:t>−276,5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934F9A69-0F1A-4347-9E5D-CB5BD4EAB1DD}"/>
              </a:ext>
            </a:extLst>
          </p:cNvPr>
          <p:cNvSpPr txBox="1"/>
          <p:nvPr/>
        </p:nvSpPr>
        <p:spPr>
          <a:xfrm>
            <a:off x="6477000" y="3848100"/>
            <a:ext cx="47625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050">
                <a:solidFill>
                  <a:srgbClr val="475569"/>
                </a:solidFill>
                <a:latin typeface="Segoe UI"/>
                <a:ea typeface="Segoe UI"/>
              </a:rPr>
              <a:t>Chênh lệch nhỏ; đây là sanity check, không phải accuracy. Holdout không được dùng để chọn lại K/scaler/model.</a:t>
            </a:r>
          </a:p>
        </p:txBody>
      </p:sp>
      <p:pic>
        <p:nvPicPr>
          <p:cNvPr id="35" name="Picture 35">
            <a:extLst>
              <a:ext uri="{FF2B5EF4-FFF2-40B4-BE49-F238E27FC236}">
                <a16:creationId xmlns:a16="http://schemas.microsoft.com/office/drawing/2014/main" id="{CDD22C98-E76F-43CD-9AED-36EA3CC48DAA}"/>
              </a:ext>
            </a:extLst>
          </p:cNvPr>
          <p:cNvPicPr/>
          <p:nvPr/>
        </p:nvPicPr>
        <p:blipFill>
          <a:blip r:embed="rId2"/>
          <a:srcRect t="5270" b="5270"/>
          <a:stretch>
            <a:fillRect/>
          </a:stretch>
        </p:blipFill>
        <p:spPr>
          <a:xfrm>
            <a:off x="609600" y="4914900"/>
            <a:ext cx="3238500" cy="1390650"/>
          </a:xfrm>
          <a:prstGeom prst="rect">
            <a:avLst/>
          </a:prstGeom>
        </p:spPr>
      </p:pic>
      <p:sp>
        <p:nvSpPr>
          <p:cNvPr id="36" name="TextBox 36">
            <a:extLst>
              <a:ext uri="{FF2B5EF4-FFF2-40B4-BE49-F238E27FC236}">
                <a16:creationId xmlns:a16="http://schemas.microsoft.com/office/drawing/2014/main" id="{98A2E862-55E9-4A5D-886A-0DB40F36531D}"/>
              </a:ext>
            </a:extLst>
          </p:cNvPr>
          <p:cNvSpPr txBox="1"/>
          <p:nvPr/>
        </p:nvSpPr>
        <p:spPr>
          <a:xfrm>
            <a:off x="4038600" y="4953000"/>
            <a:ext cx="75438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  <a:ea typeface="Segoe UI"/>
              </a:rPr>
              <a:t>Model khóa: K-Means F9 · Robust · no PCA · K=2 · seed 42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Evaluation run 20261027T032109Z_07fbb11b… · holdout run 20261027T032820Z_f7434a8c…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Holdout dùng đúng một lần; không retune; final refit là model identity riêng.</a:t>
            </a:r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1DAA7C37-F316-4006-B0B8-0B843545399F}"/>
              </a:ext>
            </a:extLst>
          </p:cNvPr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BD5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25A2C5F7-A9E4-45F8-888D-99F162A0D185}"/>
              </a:ext>
            </a:extLst>
          </p:cNvPr>
          <p:cNvSpPr txBox="1"/>
          <p:nvPr/>
        </p:nvSpPr>
        <p:spPr>
          <a:xfrm>
            <a:off x="609600" y="6534150"/>
            <a:ext cx="9048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Nguồn: artifacts/runs/20261027T032241Z_ea0570dc_b202fa49_stability · artifacts/final-report-tables/holdout_metrics.csv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B9E32FEC-47EB-41D7-97E3-536E2EF98E9F}"/>
              </a:ext>
            </a:extLst>
          </p:cNvPr>
          <p:cNvSpPr txBox="1"/>
          <p:nvPr/>
        </p:nvSpPr>
        <p:spPr>
          <a:xfrm>
            <a:off x="11010900" y="6534150"/>
            <a:ext cx="5715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EBE836B-31AC-48F7-9265-9D046F7B6010}"/>
              </a:ext>
            </a:extLst>
          </p:cNvPr>
          <p:cNvSpPr txBox="1"/>
          <p:nvPr/>
        </p:nvSpPr>
        <p:spPr>
          <a:xfrm>
            <a:off x="609600" y="3429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0F766E"/>
                </a:solidFill>
                <a:latin typeface="Segoe UI"/>
                <a:ea typeface="Segoe UI"/>
              </a:rPr>
              <a:t>BTL11 · 11 — DIỄN GIẢI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505E235-4C6C-4664-8ACC-DF0FEB8B9028}"/>
              </a:ext>
            </a:extLst>
          </p:cNvPr>
          <p:cNvSpPr txBox="1"/>
          <p:nvPr/>
        </p:nvSpPr>
        <p:spPr>
          <a:xfrm>
            <a:off x="609600" y="590550"/>
            <a:ext cx="10972800" cy="48768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0F172A"/>
                </a:solidFill>
                <a:latin typeface="Segoe UI"/>
                <a:ea typeface="Segoe UI"/>
              </a:rPr>
              <a:t>Profiles, case study &amp; genre sanity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F354807-2680-4AFB-B1B7-69AC39E706FD}"/>
              </a:ext>
            </a:extLst>
          </p:cNvPr>
          <p:cNvSpPr txBox="1"/>
          <p:nvPr/>
        </p:nvSpPr>
        <p:spPr>
          <a:xfrm>
            <a:off x="609600" y="1104900"/>
            <a:ext cx="100012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475569"/>
                </a:solidFill>
                <a:latin typeface="Segoe UI"/>
                <a:ea typeface="Segoe UI"/>
              </a:rPr>
              <a:t>Profile thô + kiểm tra hậu nghiệm; genre không tham gia huấn luyện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0281A1D-F738-4D32-8DD0-923891C8E096}"/>
              </a:ext>
            </a:extLst>
          </p:cNvPr>
          <p:cNvSpPr/>
          <p:nvPr/>
        </p:nvSpPr>
        <p:spPr>
          <a:xfrm>
            <a:off x="609600" y="1619250"/>
            <a:ext cx="3143250" cy="1333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6CFB8EF-ECAE-4A5B-B29B-D710C83AA67D}"/>
              </a:ext>
            </a:extLst>
          </p:cNvPr>
          <p:cNvSpPr txBox="1"/>
          <p:nvPr/>
        </p:nvSpPr>
        <p:spPr>
          <a:xfrm>
            <a:off x="819150" y="1752600"/>
            <a:ext cx="272415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0F766E"/>
                </a:solidFill>
                <a:latin typeface="Segoe UI"/>
                <a:ea typeface="Segoe UI"/>
              </a:rPr>
              <a:t>CỤM 0 · 80,47%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B2C7269-B470-4910-AC4B-7BD9086C8A1E}"/>
              </a:ext>
            </a:extLst>
          </p:cNvPr>
          <p:cNvSpPr txBox="1"/>
          <p:nvPr/>
        </p:nvSpPr>
        <p:spPr>
          <a:xfrm>
            <a:off x="819150" y="1981200"/>
            <a:ext cx="2724150" cy="36195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0F172A"/>
                </a:solidFill>
                <a:latin typeface="Segoe UI"/>
                <a:ea typeface="Segoe UI"/>
              </a:rPr>
              <a:t>72.211 track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AA6F2F2-CC96-465B-8941-5BEF61DF729E}"/>
              </a:ext>
            </a:extLst>
          </p:cNvPr>
          <p:cNvSpPr txBox="1"/>
          <p:nvPr/>
        </p:nvSpPr>
        <p:spPr>
          <a:xfrm>
            <a:off x="819150" y="2381250"/>
            <a:ext cx="272415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334155"/>
                </a:solidFill>
                <a:latin typeface="Segoe UI"/>
                <a:ea typeface="Segoe UI"/>
              </a:rPr>
              <a:t>Vocal/non-instrumental</a:t>
            </a:r>
          </a:p>
          <a:p>
            <a:pPr algn="l">
              <a:lnSpc>
                <a:spcPct val="115000"/>
              </a:lnSpc>
            </a:pPr>
            <a:r>
              <a:rPr sz="950">
                <a:solidFill>
                  <a:srgbClr val="64748B"/>
                </a:solidFill>
                <a:latin typeface="Segoe UI"/>
                <a:ea typeface="Segoe UI"/>
              </a:rPr>
              <a:t>energy 0,688 · dance 0,584 · instr ~0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98FCDE2-CD8F-4C45-A8E2-0011841C8CB1}"/>
              </a:ext>
            </a:extLst>
          </p:cNvPr>
          <p:cNvSpPr/>
          <p:nvPr/>
        </p:nvSpPr>
        <p:spPr>
          <a:xfrm>
            <a:off x="3905250" y="1619250"/>
            <a:ext cx="314325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F07F786-B83A-49D2-A725-B65F05180B06}"/>
              </a:ext>
            </a:extLst>
          </p:cNvPr>
          <p:cNvSpPr txBox="1"/>
          <p:nvPr/>
        </p:nvSpPr>
        <p:spPr>
          <a:xfrm>
            <a:off x="4114800" y="1752600"/>
            <a:ext cx="272415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0F766E"/>
                </a:solidFill>
                <a:latin typeface="Segoe UI"/>
                <a:ea typeface="Segoe UI"/>
              </a:rPr>
              <a:t>CỤM 1 · 19,53%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2B65F4-5E61-4976-986D-745BD9B38AB8}"/>
              </a:ext>
            </a:extLst>
          </p:cNvPr>
          <p:cNvSpPr txBox="1"/>
          <p:nvPr/>
        </p:nvSpPr>
        <p:spPr>
          <a:xfrm>
            <a:off x="4114800" y="1981200"/>
            <a:ext cx="2724150" cy="36195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0F172A"/>
                </a:solidFill>
                <a:latin typeface="Segoe UI"/>
                <a:ea typeface="Segoe UI"/>
              </a:rPr>
              <a:t>17.530 track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5E5E868-A9FF-439D-9073-B098DF6F93DF}"/>
              </a:ext>
            </a:extLst>
          </p:cNvPr>
          <p:cNvSpPr txBox="1"/>
          <p:nvPr/>
        </p:nvSpPr>
        <p:spPr>
          <a:xfrm>
            <a:off x="4114800" y="2381250"/>
            <a:ext cx="272415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334155"/>
                </a:solidFill>
                <a:latin typeface="Segoe UI"/>
                <a:ea typeface="Segoe UI"/>
              </a:rPr>
              <a:t>Instrumental/ambient</a:t>
            </a:r>
          </a:p>
          <a:p>
            <a:pPr algn="l">
              <a:lnSpc>
                <a:spcPct val="115000"/>
              </a:lnSpc>
            </a:pPr>
            <a:r>
              <a:rPr sz="950">
                <a:solidFill>
                  <a:srgbClr val="64748B"/>
                </a:solidFill>
                <a:latin typeface="Segoe UI"/>
                <a:ea typeface="Segoe UI"/>
              </a:rPr>
              <a:t>instrumentalness 0,858 · acousticness 0,149</a:t>
            </a:r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6D50F88A-ADA2-4526-9BFB-C4BE49F3403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" y="3105150"/>
            <a:ext cx="6438900" cy="2638425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8E55BF77-D604-4E4F-A905-0661F022DEE5}"/>
              </a:ext>
            </a:extLst>
          </p:cNvPr>
          <p:cNvSpPr txBox="1"/>
          <p:nvPr/>
        </p:nvSpPr>
        <p:spPr>
          <a:xfrm>
            <a:off x="609600" y="5791200"/>
            <a:ext cx="64389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64748B"/>
                </a:solidFill>
                <a:latin typeface="Segoe UI"/>
                <a:ea typeface="Segoe UI"/>
              </a:rPr>
              <a:t>Profile raw-unit (median) — acoustic hypothesis, không phải genre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CBA6BBD-156A-4F50-92A5-C797112AAC6E}"/>
              </a:ext>
            </a:extLst>
          </p:cNvPr>
          <p:cNvSpPr txBox="1"/>
          <p:nvPr/>
        </p:nvSpPr>
        <p:spPr>
          <a:xfrm>
            <a:off x="7315200" y="1619250"/>
            <a:ext cx="42672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  <a:ea typeface="Segoe UI"/>
              </a:rPr>
              <a:t>Case study — track gần centroid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B9B4D7C-5212-4C28-933D-7D772E461B63}"/>
              </a:ext>
            </a:extLst>
          </p:cNvPr>
          <p:cNvSpPr txBox="1"/>
          <p:nvPr/>
        </p:nvSpPr>
        <p:spPr>
          <a:xfrm>
            <a:off x="7315200" y="1905000"/>
            <a:ext cx="42672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1">
                <a:solidFill>
                  <a:srgbClr val="334155"/>
                </a:solidFill>
                <a:latin typeface="Segoe UI"/>
                <a:ea typeface="Segoe UI"/>
              </a:rPr>
              <a:t>Cụm 0 · Aynalarımda — Stabil; Bedo</a:t>
            </a:r>
          </a:p>
          <a:p>
            <a:pPr algn="l">
              <a:lnSpc>
                <a:spcPct val="112000"/>
              </a:lnSpc>
            </a:pPr>
            <a:r>
              <a:rPr sz="900">
                <a:solidFill>
                  <a:srgbClr val="64748B"/>
                </a:solidFill>
                <a:latin typeface="Segoe UI"/>
                <a:ea typeface="Segoe UI"/>
              </a:rPr>
              <a:t>energy 0,749 · dance 0,614 · instrumentalness ~0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256C891-FAAE-4D88-81CF-B9D7F4A38AF8}"/>
              </a:ext>
            </a:extLst>
          </p:cNvPr>
          <p:cNvSpPr txBox="1"/>
          <p:nvPr/>
        </p:nvSpPr>
        <p:spPr>
          <a:xfrm>
            <a:off x="7315200" y="2324100"/>
            <a:ext cx="42672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1">
                <a:solidFill>
                  <a:srgbClr val="334155"/>
                </a:solidFill>
                <a:latin typeface="Segoe UI"/>
                <a:ea typeface="Segoe UI"/>
              </a:rPr>
              <a:t>Cụm 0 · Re Re Bajarangi — Kailash Kher</a:t>
            </a:r>
          </a:p>
          <a:p>
            <a:pPr algn="l">
              <a:lnSpc>
                <a:spcPct val="112000"/>
              </a:lnSpc>
            </a:pPr>
            <a:r>
              <a:rPr sz="900">
                <a:solidFill>
                  <a:srgbClr val="64748B"/>
                </a:solidFill>
                <a:latin typeface="Segoe UI"/>
                <a:ea typeface="Segoe UI"/>
              </a:rPr>
              <a:t>energy 0,740 · dance 0,539 · instrumentalness 0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C67CDA-A925-43C5-9BF5-5CB46606F702}"/>
              </a:ext>
            </a:extLst>
          </p:cNvPr>
          <p:cNvSpPr txBox="1"/>
          <p:nvPr/>
        </p:nvSpPr>
        <p:spPr>
          <a:xfrm>
            <a:off x="7315200" y="2743200"/>
            <a:ext cx="42672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1">
                <a:solidFill>
                  <a:srgbClr val="334155"/>
                </a:solidFill>
                <a:latin typeface="Segoe UI"/>
                <a:ea typeface="Segoe UI"/>
              </a:rPr>
              <a:t>Cụm 1 · Letters – NTO Remix — KAS:ST; NTO</a:t>
            </a:r>
          </a:p>
          <a:p>
            <a:pPr algn="l">
              <a:lnSpc>
                <a:spcPct val="112000"/>
              </a:lnSpc>
            </a:pPr>
            <a:r>
              <a:rPr sz="900">
                <a:solidFill>
                  <a:srgbClr val="64748B"/>
                </a:solidFill>
                <a:latin typeface="Segoe UI"/>
                <a:ea typeface="Segoe UI"/>
              </a:rPr>
              <a:t>instrumentalness 0,806 · energy 0,560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0462F6C-3A6E-4F29-A92F-5463E5DADA9A}"/>
              </a:ext>
            </a:extLst>
          </p:cNvPr>
          <p:cNvSpPr txBox="1"/>
          <p:nvPr/>
        </p:nvSpPr>
        <p:spPr>
          <a:xfrm>
            <a:off x="7315200" y="3162300"/>
            <a:ext cx="42672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1">
                <a:solidFill>
                  <a:srgbClr val="334155"/>
                </a:solidFill>
                <a:latin typeface="Segoe UI"/>
                <a:ea typeface="Segoe UI"/>
              </a:rPr>
              <a:t>Cụm 1 · CLOCK — Plaid</a:t>
            </a:r>
          </a:p>
          <a:p>
            <a:pPr algn="l">
              <a:lnSpc>
                <a:spcPct val="112000"/>
              </a:lnSpc>
            </a:pPr>
            <a:r>
              <a:rPr sz="900">
                <a:solidFill>
                  <a:srgbClr val="64748B"/>
                </a:solidFill>
                <a:latin typeface="Segoe UI"/>
                <a:ea typeface="Segoe UI"/>
              </a:rPr>
              <a:t>instrumentalness 0,822 · energy 0,522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AED26BC0-40E7-41E8-AF3D-C7FA584E015B}"/>
              </a:ext>
            </a:extLst>
          </p:cNvPr>
          <p:cNvSpPr/>
          <p:nvPr/>
        </p:nvSpPr>
        <p:spPr>
          <a:xfrm>
            <a:off x="7315200" y="3638550"/>
            <a:ext cx="4267200" cy="9525"/>
          </a:xfrm>
          <a:prstGeom prst="rect">
            <a:avLst/>
          </a:prstGeom>
          <a:solidFill>
            <a:srgbClr val="CBD5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2823433-6BA9-4FED-AD06-BA4F4DC53AFD}"/>
              </a:ext>
            </a:extLst>
          </p:cNvPr>
          <p:cNvSpPr txBox="1"/>
          <p:nvPr/>
        </p:nvSpPr>
        <p:spPr>
          <a:xfrm>
            <a:off x="7315200" y="3733800"/>
            <a:ext cx="42672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0F766E"/>
                </a:solidFill>
                <a:latin typeface="Segoe UI"/>
                <a:ea typeface="Segoe UI"/>
              </a:rPr>
              <a:t>GENRE SANITY — CHỈ HẬU NGHIỆM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54981D7-01A4-40A8-89F0-86383C43ECA4}"/>
              </a:ext>
            </a:extLst>
          </p:cNvPr>
          <p:cNvSpPr txBox="1"/>
          <p:nvPr/>
        </p:nvSpPr>
        <p:spPr>
          <a:xfrm>
            <a:off x="7315200" y="3943350"/>
            <a:ext cx="18669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  <a:ea typeface="Segoe UI"/>
              </a:rPr>
              <a:t>0,0041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27AA5EE-DF95-487D-A2DE-042E4D7BAAB3}"/>
              </a:ext>
            </a:extLst>
          </p:cNvPr>
          <p:cNvSpPr txBox="1"/>
          <p:nvPr/>
        </p:nvSpPr>
        <p:spPr>
          <a:xfrm>
            <a:off x="7315200" y="4381500"/>
            <a:ext cx="1866900" cy="15240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64748B"/>
                </a:solidFill>
                <a:latin typeface="Segoe UI"/>
                <a:ea typeface="Segoe UI"/>
              </a:rPr>
              <a:t>ARI so với genre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0A4A70D-2251-4E6A-8197-8808DFC9555C}"/>
              </a:ext>
            </a:extLst>
          </p:cNvPr>
          <p:cNvSpPr txBox="1"/>
          <p:nvPr/>
        </p:nvSpPr>
        <p:spPr>
          <a:xfrm>
            <a:off x="9220200" y="3943350"/>
            <a:ext cx="18669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0F172A"/>
                </a:solidFill>
                <a:latin typeface="Segoe UI"/>
                <a:ea typeface="Segoe UI"/>
              </a:rPr>
              <a:t>0,0817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4DFEC58-6A0B-4B66-B88B-766AE52E867A}"/>
              </a:ext>
            </a:extLst>
          </p:cNvPr>
          <p:cNvSpPr txBox="1"/>
          <p:nvPr/>
        </p:nvSpPr>
        <p:spPr>
          <a:xfrm>
            <a:off x="9220200" y="4381500"/>
            <a:ext cx="1866900" cy="15240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64748B"/>
                </a:solidFill>
                <a:latin typeface="Segoe UI"/>
                <a:ea typeface="Segoe UI"/>
              </a:rPr>
              <a:t>NMI so với genre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B7CFD299-0545-486A-AAB6-AF625586C3C8}"/>
              </a:ext>
            </a:extLst>
          </p:cNvPr>
          <p:cNvSpPr txBox="1"/>
          <p:nvPr/>
        </p:nvSpPr>
        <p:spPr>
          <a:xfrm>
            <a:off x="7315200" y="4572000"/>
            <a:ext cx="42672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950">
                <a:solidFill>
                  <a:srgbClr val="475569"/>
                </a:solidFill>
                <a:latin typeface="Segoe UI"/>
                <a:ea typeface="Segoe UI"/>
              </a:rPr>
              <a:t>73.442 track đơn thể loại; 16.299 track đa thể loại bị loại khỏi phép đo.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2D08EB81-AA42-4418-90F1-DDDDE222BFF3}"/>
              </a:ext>
            </a:extLst>
          </p:cNvPr>
          <p:cNvSpPr txBox="1"/>
          <p:nvPr/>
        </p:nvSpPr>
        <p:spPr>
          <a:xfrm>
            <a:off x="7315200" y="4895850"/>
            <a:ext cx="42672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Segoe UI"/>
                <a:ea typeface="Segoe UI"/>
              </a:rPr>
              <a:t>Cụm 0: pagode · reggae · reggaeton (~1,38% mỗi genre)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Segoe UI"/>
                <a:ea typeface="Segoe UI"/>
              </a:rPr>
              <a:t>Cụm 1: study 5,20% · minimal-techno 5,03% · sleep 4,65%</a:t>
            </a:r>
          </a:p>
          <a:p>
            <a:pPr algn="l">
              <a:lnSpc>
                <a:spcPct val="115000"/>
              </a:lnSpc>
            </a:pPr>
            <a:r>
              <a:rPr sz="950" b="1">
                <a:solidFill>
                  <a:srgbClr val="0F766E"/>
                </a:solidFill>
                <a:latin typeface="Segoe UI"/>
                <a:ea typeface="Segoe UI"/>
              </a:rPr>
              <a:t>Không dùng genre để chọn K/scaler/model.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23D651B-E95D-4A16-BBB4-A54A9274DB7E}"/>
              </a:ext>
            </a:extLst>
          </p:cNvPr>
          <p:cNvSpPr txBox="1"/>
          <p:nvPr/>
        </p:nvSpPr>
        <p:spPr>
          <a:xfrm>
            <a:off x="7315200" y="5638800"/>
            <a:ext cx="42672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900" i="1">
                <a:solidFill>
                  <a:srgbClr val="64748B"/>
                </a:solidFill>
                <a:latin typeface="Segoe UI"/>
                <a:ea typeface="Segoe UI"/>
              </a:rPr>
              <a:t>Cụm là audio persona, không phải genre discovery. PCA2D/t-SNE chỉ để nhìn.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887646AD-97DF-48D3-B800-B9C7494C78A6}"/>
              </a:ext>
            </a:extLst>
          </p:cNvPr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BD5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E16ED756-6973-41FB-BF89-99FCD3AF6219}"/>
              </a:ext>
            </a:extLst>
          </p:cNvPr>
          <p:cNvSpPr txBox="1"/>
          <p:nvPr/>
        </p:nvSpPr>
        <p:spPr>
          <a:xfrm>
            <a:off x="609600" y="6534150"/>
            <a:ext cx="9048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64748B"/>
                </a:solidFill>
                <a:latin typeface="Segoe UI"/>
                <a:ea typeface="Segoe UI"/>
              </a:rPr>
              <a:t>Nguồn: artifacts/runs/20261027T032943Z_f7434a8c_b202fa49_final_refit_kmeans_k2 · REPORT_TABLES.md §7–8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51A1EAF9-205B-4930-A717-888FC9779296}"/>
              </a:ext>
            </a:extLst>
          </p:cNvPr>
          <p:cNvSpPr txBox="1"/>
          <p:nvPr/>
        </p:nvSpPr>
        <p:spPr>
          <a:xfrm>
            <a:off x="11010900" y="6534150"/>
            <a:ext cx="5715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11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3B1CFE2-D0C5-4371-94C9-070D1043A52D}"/>
              </a:ext>
            </a:extLst>
          </p:cNvPr>
          <p:cNvSpPr txBox="1"/>
          <p:nvPr/>
        </p:nvSpPr>
        <p:spPr>
          <a:xfrm>
            <a:off x="609600" y="762000"/>
            <a:ext cx="666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5EEAD4"/>
                </a:solidFill>
                <a:latin typeface="Segoe UI"/>
                <a:ea typeface="Segoe UI"/>
              </a:rPr>
              <a:t>BTL11 · 12 — KẾT LUẬN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203F96F-7335-42B9-B673-C86C0740903C}"/>
              </a:ext>
            </a:extLst>
          </p:cNvPr>
          <p:cNvSpPr txBox="1"/>
          <p:nvPr/>
        </p:nvSpPr>
        <p:spPr>
          <a:xfrm>
            <a:off x="609600" y="1123950"/>
            <a:ext cx="6286500" cy="579120"/>
          </a:xfrm>
        </p:spPr>
        <p:txBody>
          <a:bodyPr wrap="square" rtlCol="0" lIns="0" tIns="0" rIns="0" bIns="0" anchor="t"/>
          <a:lstStyle/>
          <a:p>
            <a:pPr algn="l"/>
            <a:r>
              <a:rPr sz="3800" b="1">
                <a:solidFill>
                  <a:srgbClr val="F8FAFC"/>
                </a:solidFill>
                <a:latin typeface="Segoe UI"/>
                <a:ea typeface="Segoe UI"/>
              </a:rPr>
              <a:t>Kết luận &amp; hạn chế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0354BD9-FAC3-4D91-9915-AB7116599A9F}"/>
              </a:ext>
            </a:extLst>
          </p:cNvPr>
          <p:cNvSpPr txBox="1"/>
          <p:nvPr/>
        </p:nvSpPr>
        <p:spPr>
          <a:xfrm>
            <a:off x="609600" y="2076450"/>
            <a:ext cx="6096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5EEAD4"/>
                </a:solidFill>
                <a:latin typeface="Segoe UI"/>
                <a:ea typeface="Segoe UI"/>
              </a:rPr>
              <a:t>01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677DC62-99EC-4077-BC49-1480150980E3}"/>
              </a:ext>
            </a:extLst>
          </p:cNvPr>
          <p:cNvSpPr txBox="1"/>
          <p:nvPr/>
        </p:nvSpPr>
        <p:spPr>
          <a:xfrm>
            <a:off x="1295400" y="2057400"/>
            <a:ext cx="5715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</a:rPr>
              <a:t>Hai nhóm instrumental/vocal ổn định</a:t>
            </a:r>
          </a:p>
          <a:p>
            <a:pPr algn="l">
              <a:lnSpc>
                <a:spcPct val="112000"/>
              </a:lnSpc>
            </a:pPr>
            <a:r>
              <a:rPr sz="1150">
                <a:solidFill>
                  <a:srgbClr val="CBD5E1"/>
                </a:solidFill>
                <a:latin typeface="Segoe UI"/>
                <a:ea typeface="Segoe UI"/>
              </a:rPr>
              <a:t>instrumental/ambient 19,53% và vocal/non-instrumental 80,47% trên 89.741 track.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AFA202F-B49E-4310-A3D7-0CC051AF606F}"/>
              </a:ext>
            </a:extLst>
          </p:cNvPr>
          <p:cNvSpPr txBox="1"/>
          <p:nvPr/>
        </p:nvSpPr>
        <p:spPr>
          <a:xfrm>
            <a:off x="609600" y="2895600"/>
            <a:ext cx="6096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5EEAD4"/>
                </a:solidFill>
                <a:latin typeface="Segoe UI"/>
                <a:ea typeface="Segoe UI"/>
              </a:rPr>
              <a:t>02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4AABFAE-5B84-4542-ABD4-10D658C86585}"/>
              </a:ext>
            </a:extLst>
          </p:cNvPr>
          <p:cNvSpPr txBox="1"/>
          <p:nvPr/>
        </p:nvSpPr>
        <p:spPr>
          <a:xfrm>
            <a:off x="1295400" y="2876550"/>
            <a:ext cx="5715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</a:rPr>
              <a:t>Holdout xác nhận cấu trúc</a:t>
            </a:r>
          </a:p>
          <a:p>
            <a:pPr algn="l">
              <a:lnSpc>
                <a:spcPct val="112000"/>
              </a:lnSpc>
            </a:pPr>
            <a:r>
              <a:rPr sz="1050">
                <a:solidFill>
                  <a:srgbClr val="CBD5E1"/>
                </a:solidFill>
                <a:latin typeface="Segoe UI"/>
                <a:ea typeface="Segoe UI"/>
              </a:rPr>
              <a:t>Silhouette 0,5902 so với 0,5956 dev; stability ARI 0,9997 (reference IDs); không retune sau holdout.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10757B0-1B04-48C7-823A-6982EE3BD9AB}"/>
              </a:ext>
            </a:extLst>
          </p:cNvPr>
          <p:cNvSpPr txBox="1"/>
          <p:nvPr/>
        </p:nvSpPr>
        <p:spPr>
          <a:xfrm>
            <a:off x="609600" y="3714750"/>
            <a:ext cx="6096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5EEAD4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C62576A-AB60-41D8-91F7-02FFE5A523F4}"/>
              </a:ext>
            </a:extLst>
          </p:cNvPr>
          <p:cNvSpPr txBox="1"/>
          <p:nvPr/>
        </p:nvSpPr>
        <p:spPr>
          <a:xfrm>
            <a:off x="1295400" y="3695700"/>
            <a:ext cx="5715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</a:rPr>
              <a:t>GMM mềm, không thay K-Means</a:t>
            </a:r>
          </a:p>
          <a:p>
            <a:pPr algn="l">
              <a:lnSpc>
                <a:spcPct val="112000"/>
              </a:lnSpc>
            </a:pPr>
            <a:r>
              <a:rPr sz="1050">
                <a:solidFill>
                  <a:srgbClr val="CBD5E1"/>
                </a:solidFill>
                <a:latin typeface="Segoe UI"/>
                <a:ea typeface="Segoe UI"/>
              </a:rPr>
              <a:t>Posterior hữu ích cho track biên; hard-label silhouette 0,0547 (F9/Standard) so với 0,5956 (F9/Robust) — không so trực tiếp.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9BCBF1A1-3565-423C-A446-DA389FC02789}"/>
              </a:ext>
            </a:extLst>
          </p:cNvPr>
          <p:cNvSpPr/>
          <p:nvPr/>
        </p:nvSpPr>
        <p:spPr>
          <a:xfrm>
            <a:off x="609600" y="4762500"/>
            <a:ext cx="6400800" cy="9525"/>
          </a:xfrm>
          <a:prstGeom prst="rect">
            <a:avLst/>
          </a:prstGeom>
          <a:solidFill>
            <a:srgbClr val="1E293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F39CF23-B533-477B-AA02-D1A17B183735}"/>
              </a:ext>
            </a:extLst>
          </p:cNvPr>
          <p:cNvSpPr txBox="1"/>
          <p:nvPr/>
        </p:nvSpPr>
        <p:spPr>
          <a:xfrm>
            <a:off x="609600" y="4933950"/>
            <a:ext cx="6400800" cy="40309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150">
                <a:solidFill>
                  <a:srgbClr val="94A3B8"/>
                </a:solidFill>
                <a:latin typeface="Segoe UI"/>
                <a:ea typeface="Segoe UI"/>
              </a:rPr>
              <a:t>Genre không phải target: ARI 0,0041 · NMI 0,0817. Cụm là audio persona, không phải genre discovery.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074B9C28-7918-4187-AD3B-5BF87BE5E158}"/>
              </a:ext>
            </a:extLst>
          </p:cNvPr>
          <p:cNvSpPr/>
          <p:nvPr/>
        </p:nvSpPr>
        <p:spPr>
          <a:xfrm>
            <a:off x="7315200" y="1428750"/>
            <a:ext cx="4267200" cy="4095750"/>
          </a:xfrm>
          <a:prstGeom prst="roundRect">
            <a:avLst/>
          </a:prstGeom>
          <a:solidFill>
            <a:srgbClr val="111C2E"/>
          </a:solidFill>
          <a:ln w="12700">
            <a:solidFill>
              <a:srgbClr val="1E293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BEDDDEC-63B3-4D83-B171-6EC15DEDC44F}"/>
              </a:ext>
            </a:extLst>
          </p:cNvPr>
          <p:cNvSpPr txBox="1"/>
          <p:nvPr/>
        </p:nvSpPr>
        <p:spPr>
          <a:xfrm>
            <a:off x="7543800" y="1600200"/>
            <a:ext cx="3810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CD34D"/>
                </a:solidFill>
                <a:latin typeface="Segoe UI"/>
                <a:ea typeface="Segoe UI"/>
              </a:rPr>
              <a:t>HẠN CHẾ &amp; CỔNG CON NGƯỜI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38C830F-A388-4218-9DE1-1A017BE92947}"/>
              </a:ext>
            </a:extLst>
          </p:cNvPr>
          <p:cNvSpPr txBox="1"/>
          <p:nvPr/>
        </p:nvSpPr>
        <p:spPr>
          <a:xfrm>
            <a:off x="7543800" y="1924050"/>
            <a:ext cx="3810000" cy="3390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100">
                <a:solidFill>
                  <a:srgbClr val="CBD5E1"/>
                </a:solidFill>
                <a:latin typeface="Segoe UI"/>
                <a:ea typeface="Segoe UI"/>
              </a:rPr>
              <a:t>License pending: ODbL vs BSD vs Spotify provenance; raw CSV không public.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100">
                <a:solidFill>
                  <a:srgbClr val="CBD5E1"/>
                </a:solidFill>
                <a:latin typeface="Segoe UI"/>
                <a:ea typeface="Segoe UI"/>
              </a:rPr>
              <a:t>Snapshot 114.000 dòng / 114 genre; không đại diện thị trường.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100">
                <a:solidFill>
                  <a:srgbClr val="CBD5E1"/>
                </a:solidFill>
                <a:latin typeface="Segoe UI"/>
                <a:ea typeface="Segoe UI"/>
              </a:rPr>
              <a:t>K=2 rất rộng; K=6 giàu hơn nhưng kém ổn định và có cụm ~1,1%. K=2 chủ yếu do instrumentalness quyết định (97,3% between-SS; LOO ARI −0,05): phân đoạn instrumental/vocal, không phải đa biến cân bằng.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100">
                <a:solidFill>
                  <a:srgbClr val="CBD5E1"/>
                </a:solidFill>
                <a:latin typeface="Segoe UI"/>
                <a:ea typeface="Segoe UI"/>
              </a:rPr>
              <a:t>Không có user behavior hay causal claim.</a:t>
            </a:r>
          </a:p>
          <a:p>
            <a:pPr algn="l">
              <a:lnSpc>
                <a:spcPct val="122000"/>
              </a:lnSpc>
            </a:pPr>
            <a:r>
              <a:rPr sz="1100">
                <a:solidFill>
                  <a:srgbClr val="CBD5E1"/>
                </a:solidFill>
                <a:latin typeface="Segoe UI"/>
                <a:ea typeface="Segoe UI"/>
              </a:rPr>
              <a:t>Git remote, deploy và rehearsal là quyết định của con người.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8A4BF8DD-C196-47E8-B7D1-D4C5D1A257C1}"/>
              </a:ext>
            </a:extLst>
          </p:cNvPr>
          <p:cNvSpPr/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33415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AFFBDB8-2C7C-4668-8E63-A0E1691C4751}"/>
              </a:ext>
            </a:extLst>
          </p:cNvPr>
          <p:cNvSpPr txBox="1"/>
          <p:nvPr/>
        </p:nvSpPr>
        <p:spPr>
          <a:xfrm>
            <a:off x="609600" y="6076950"/>
            <a:ext cx="952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94A3B8"/>
                </a:solidFill>
                <a:latin typeface="Segoe UI"/>
                <a:ea typeface="Segoe UI"/>
              </a:rPr>
              <a:t>Q&amp;A · artifacts/INDEX.csv · artifacts/final-report-tables/REPORT_TABLES.md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9273CA1-389E-4441-80DC-03DAE3C91423}"/>
              </a:ext>
            </a:extLst>
          </p:cNvPr>
          <p:cNvSpPr txBox="1"/>
          <p:nvPr/>
        </p:nvSpPr>
        <p:spPr>
          <a:xfrm>
            <a:off x="11010900" y="6534150"/>
            <a:ext cx="5715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  <a:ea typeface="Segoe U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